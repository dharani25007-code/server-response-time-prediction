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6540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team and the question: can workload parameters predict server response time, and can we prove it statistically instead of just reporting accuracy?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Response time is the most visible quality measure of a web service. It varies request to request, so it is a probability and statistics problem. We define it the standard queueing way: waiting time plus execution time.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Read the aim, then the three objectives. Objective three matters most: we do not only report accuracy, we test whether each input is statistically significant. Map CO2 to CO5 as shown.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Units II and IV: correlation. Unit IV: regression by least squares, beta hat = (X transpose X) inverse X transpose y. Unit V: F-test and t-tests. Response time is treated as a continuous random variable.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Algorithm 1, the full procedure from input to output. Read the Input and Output lines, then steps 1 to 8: define response time, clean, split, fit by least squares, predict, measure accuracy, then test significance with the t-tests and F-test. It matches the flowchart on the left and the Python script. Walk the flowchart top to bottom. Waiting and execution time are excluded as features because they make up the response time; including them would be data leakage. IQR bounds were -1,946 to 7,975 ms. Skewness was 0.055.</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is Python. The script prints every metric and test result and saves the plots. The scatter plots on the right show why workload alone fails: there is no visible pattern between CPU, memory or users and response time.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snippets: loading and cleaning, the model pipeline, and the statsmodels OLS call that gives the F-test, t-tests and confidence intervals. The full script is server_response_time_regression.py.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plot: Scenario A predictions sit in a flat band, so the model learned nothing. Right plot: Scenario B follows the red line. If asked: simple regression on the best single feature also gave R2 0.002 (A) and 0.945 (B). A second dataset of 732 website records gave R2 = 0.006.</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Details: MAE about 287 ms in Scenario B; predicted duration coefficient 0.983 with 95% CI 0.975 to 0.990. Three findings. If asked about bandwidth share: it had p = 0.041, but with ten separate tests one false positive is expected by chance and the model explains only 0.2 percent of variance. Why did CPU and memory not matter? The dataset appears synthetic, with columns generated independently, and the tests correctly found no signal.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the audience and invite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2D23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2743200" cy="38100"/>
          </a:xfrm>
          <a:prstGeom prst="rect">
            <a:avLst/>
          </a:prstGeom>
          <a:solidFill>
            <a:srgbClr val="9C89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80160"/>
            <a:ext cx="5029200" cy="261610"/>
          </a:xfrm>
          <a:prstGeom prst="rect">
            <a:avLst/>
          </a:prstGeom>
          <a:noFill/>
        </p:spPr>
        <p:txBody>
          <a:bodyPr wrap="square">
            <a:spAutoFit/>
          </a:bodyPr>
          <a:lstStyle/>
          <a:p>
            <a:pPr algn="l">
              <a:spcAft>
                <a:spcPts val="400"/>
              </a:spcAft>
            </a:pPr>
            <a:r>
              <a:rPr lang="en-US" sz="1100" b="1" dirty="0">
                <a:solidFill>
                  <a:srgbClr val="9C8976"/>
                </a:solidFill>
                <a:latin typeface="Calibri"/>
              </a:rPr>
              <a:t>MICRO PROJECT 13 </a:t>
            </a:r>
          </a:p>
        </p:txBody>
      </p:sp>
      <p:sp>
        <p:nvSpPr>
          <p:cNvPr id="5" name="TextBox 4"/>
          <p:cNvSpPr txBox="1"/>
          <p:nvPr/>
        </p:nvSpPr>
        <p:spPr>
          <a:xfrm>
            <a:off x="731520" y="1547783"/>
            <a:ext cx="6217920" cy="1371600"/>
          </a:xfrm>
          <a:prstGeom prst="rect">
            <a:avLst/>
          </a:prstGeom>
          <a:noFill/>
        </p:spPr>
        <p:txBody>
          <a:bodyPr wrap="square">
            <a:spAutoFit/>
          </a:bodyPr>
          <a:lstStyle/>
          <a:p>
            <a:pPr algn="l">
              <a:spcAft>
                <a:spcPts val="400"/>
              </a:spcAft>
            </a:pPr>
            <a:r>
              <a:rPr lang="en-US" sz="3600" b="1" dirty="0">
                <a:solidFill>
                  <a:srgbClr val="2D231E"/>
                </a:solidFill>
                <a:latin typeface="Georgia"/>
              </a:rPr>
              <a:t>Server Response Time</a:t>
            </a:r>
            <a:br>
              <a:rPr dirty="0"/>
            </a:br>
            <a:r>
              <a:rPr lang="en-US" sz="3600" b="1" dirty="0">
                <a:solidFill>
                  <a:srgbClr val="2D231E"/>
                </a:solidFill>
                <a:latin typeface="Georgia"/>
              </a:rPr>
              <a:t>Prediction Using</a:t>
            </a:r>
            <a:br>
              <a:rPr dirty="0"/>
            </a:br>
            <a:r>
              <a:rPr lang="en-US" sz="3600" b="1" dirty="0">
                <a:solidFill>
                  <a:srgbClr val="2D231E"/>
                </a:solidFill>
                <a:latin typeface="Georgia"/>
              </a:rPr>
              <a:t>Regression Models</a:t>
            </a:r>
          </a:p>
        </p:txBody>
      </p:sp>
      <p:sp>
        <p:nvSpPr>
          <p:cNvPr id="6" name="Rectangle 5"/>
          <p:cNvSpPr/>
          <p:nvPr/>
        </p:nvSpPr>
        <p:spPr>
          <a:xfrm>
            <a:off x="731520" y="3474720"/>
            <a:ext cx="4572000" cy="2540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657600"/>
            <a:ext cx="6217920" cy="731520"/>
          </a:xfrm>
          <a:prstGeom prst="rect">
            <a:avLst/>
          </a:prstGeom>
          <a:noFill/>
        </p:spPr>
        <p:txBody>
          <a:bodyPr wrap="square">
            <a:spAutoFit/>
          </a:bodyPr>
          <a:lstStyle/>
          <a:p>
            <a:pPr algn="l">
              <a:spcAft>
                <a:spcPts val="400"/>
              </a:spcAft>
            </a:pPr>
            <a:r>
              <a:rPr lang="en-US" sz="1400" b="0">
                <a:solidFill>
                  <a:srgbClr val="6B5B4E"/>
                </a:solidFill>
                <a:latin typeface="Calibri"/>
              </a:rPr>
              <a:t>Competency: Probability and Statistics for Data Science and Cyber Security</a:t>
            </a:r>
            <a:br/>
            <a:r>
              <a:rPr lang="en-US" sz="1400" b="0">
                <a:solidFill>
                  <a:srgbClr val="6B5B4E"/>
                </a:solidFill>
                <a:latin typeface="Calibri"/>
              </a:rPr>
              <a:t>Course Outcomes: CO2 (Modeling), CO3 (Prediction), CO4 (Justification), CO5 (Validation)</a:t>
            </a:r>
          </a:p>
        </p:txBody>
      </p:sp>
      <p:sp>
        <p:nvSpPr>
          <p:cNvPr id="8" name="TextBox 7"/>
          <p:cNvSpPr txBox="1"/>
          <p:nvPr/>
        </p:nvSpPr>
        <p:spPr>
          <a:xfrm>
            <a:off x="731520" y="4617720"/>
            <a:ext cx="6217920" cy="882293"/>
          </a:xfrm>
          <a:prstGeom prst="rect">
            <a:avLst/>
          </a:prstGeom>
          <a:noFill/>
        </p:spPr>
        <p:txBody>
          <a:bodyPr wrap="square">
            <a:spAutoFit/>
          </a:bodyPr>
          <a:lstStyle/>
          <a:p>
            <a:pPr>
              <a:spcAft>
                <a:spcPts val="400"/>
              </a:spcAft>
            </a:pPr>
            <a:r>
              <a:rPr lang="en-US" sz="1200" b="0" dirty="0">
                <a:solidFill>
                  <a:srgbClr val="6B5B4E"/>
                </a:solidFill>
                <a:latin typeface="Calibri"/>
              </a:rPr>
              <a:t>Dharani Dharan M (URK25AI1043) </a:t>
            </a:r>
            <a:r>
              <a:rPr lang="en-US" sz="1200" dirty="0">
                <a:solidFill>
                  <a:srgbClr val="6B5B4E"/>
                </a:solidFill>
              </a:rPr>
              <a:t>|  Lithish Kumar P (URK25AI1027</a:t>
            </a:r>
          </a:p>
          <a:p>
            <a:pPr>
              <a:spcAft>
                <a:spcPts val="400"/>
              </a:spcAft>
            </a:pPr>
            <a:r>
              <a:rPr lang="en-US" sz="1200" b="0" dirty="0">
                <a:solidFill>
                  <a:srgbClr val="6B5B4E"/>
                </a:solidFill>
                <a:latin typeface="Calibri"/>
              </a:rPr>
              <a:t>Rowan Matthew R (URK25AI1012)</a:t>
            </a:r>
            <a:r>
              <a:rPr lang="en-US" sz="1200" dirty="0">
                <a:solidFill>
                  <a:srgbClr val="6B5B4E"/>
                </a:solidFill>
              </a:rPr>
              <a:t> ) |  Danush A T (URK25AI1013)</a:t>
            </a:r>
            <a:br>
              <a:rPr lang="en-US" sz="1200" dirty="0"/>
            </a:br>
            <a:br>
              <a:rPr sz="1200" dirty="0"/>
            </a:br>
            <a:endParaRPr lang="en-US" sz="1200" b="0" dirty="0">
              <a:solidFill>
                <a:srgbClr val="6B5B4E"/>
              </a:solidFill>
              <a:latin typeface="Calibri"/>
            </a:endParaRPr>
          </a:p>
        </p:txBody>
      </p:sp>
      <p:sp>
        <p:nvSpPr>
          <p:cNvPr id="9" name="Rectangle 8"/>
          <p:cNvSpPr/>
          <p:nvPr/>
        </p:nvSpPr>
        <p:spPr>
          <a:xfrm>
            <a:off x="7315200" y="731520"/>
            <a:ext cx="4389120" cy="5303520"/>
          </a:xfrm>
          <a:prstGeom prst="rect">
            <a:avLst/>
          </a:prstGeom>
          <a:solidFill>
            <a:srgbClr val="2D23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erver.jpg"/>
          <p:cNvPicPr>
            <a:picLocks noChangeAspect="1"/>
          </p:cNvPicPr>
          <p:nvPr/>
        </p:nvPicPr>
        <p:blipFill>
          <a:blip r:embed="rId3"/>
          <a:stretch>
            <a:fillRect/>
          </a:stretch>
        </p:blipFill>
        <p:spPr>
          <a:xfrm>
            <a:off x="7589520" y="1097280"/>
            <a:ext cx="3840480" cy="2194560"/>
          </a:xfrm>
          <a:prstGeom prst="rect">
            <a:avLst/>
          </a:prstGeom>
        </p:spPr>
      </p:pic>
      <p:sp>
        <p:nvSpPr>
          <p:cNvPr id="11" name="TextBox 10"/>
          <p:cNvSpPr txBox="1"/>
          <p:nvPr/>
        </p:nvSpPr>
        <p:spPr>
          <a:xfrm>
            <a:off x="7680960" y="3566160"/>
            <a:ext cx="3749039" cy="2103120"/>
          </a:xfrm>
          <a:prstGeom prst="rect">
            <a:avLst/>
          </a:prstGeom>
          <a:noFill/>
        </p:spPr>
        <p:txBody>
          <a:bodyPr wrap="square">
            <a:spAutoFit/>
          </a:bodyPr>
          <a:lstStyle/>
          <a:p>
            <a:pPr algn="l">
              <a:spcAft>
                <a:spcPts val="400"/>
              </a:spcAft>
            </a:pPr>
            <a:r>
              <a:rPr lang="en-US" sz="1350" b="0">
                <a:solidFill>
                  <a:srgbClr val="FAF7F2"/>
                </a:solidFill>
                <a:latin typeface="Calibri"/>
              </a:rPr>
              <a:t>Project at a Glance:</a:t>
            </a:r>
            <a:br/>
            <a:br/>
            <a:r>
              <a:rPr lang="en-US" sz="1350" b="0">
                <a:solidFill>
                  <a:srgbClr val="FAF7F2"/>
                </a:solidFill>
                <a:latin typeface="Calibri"/>
              </a:rPr>
              <a:t>• Data: 5,000 cloud task records</a:t>
            </a:r>
            <a:br/>
            <a:r>
              <a:rPr lang="en-US" sz="1350" b="0">
                <a:solidFill>
                  <a:srgbClr val="FAF7F2"/>
                </a:solidFill>
                <a:latin typeface="Calibri"/>
              </a:rPr>
              <a:t>• Model: OLS regression in Python</a:t>
            </a:r>
            <a:br/>
            <a:r>
              <a:rPr lang="en-US" sz="1350" b="0">
                <a:solidFill>
                  <a:srgbClr val="FAF7F2"/>
                </a:solidFill>
                <a:latin typeface="Calibri"/>
              </a:rPr>
              <a:t>• Tests: t-test, F-test, 95% CI</a:t>
            </a:r>
            <a:br/>
            <a:r>
              <a:rPr lang="en-US" sz="1350" b="0">
                <a:solidFill>
                  <a:srgbClr val="FAF7F2"/>
                </a:solidFill>
                <a:latin typeface="Calibri"/>
              </a:rPr>
              <a:t>• Finding: predicted duration drives response time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11338560" y="6309360"/>
            <a:ext cx="731520" cy="365760"/>
          </a:xfrm>
          <a:prstGeom prst="rect">
            <a:avLst/>
          </a:prstGeom>
          <a:noFill/>
        </p:spPr>
        <p:txBody>
          <a:bodyPr wrap="square">
            <a:spAutoFit/>
          </a:bodyPr>
          <a:lstStyle/>
          <a:p>
            <a:pPr algn="r">
              <a:spcAft>
                <a:spcPts val="400"/>
              </a:spcAft>
            </a:pPr>
            <a:r>
              <a:rPr lang="en-US" sz="1100" b="0">
                <a:solidFill>
                  <a:srgbClr val="9C8976"/>
                </a:solidFill>
                <a:latin typeface="Georgia"/>
              </a:rPr>
              <a:t>02</a:t>
            </a:r>
          </a:p>
        </p:txBody>
      </p:sp>
      <p:sp>
        <p:nvSpPr>
          <p:cNvPr id="3" name="TextBox 2"/>
          <p:cNvSpPr txBox="1"/>
          <p:nvPr/>
        </p:nvSpPr>
        <p:spPr>
          <a:xfrm>
            <a:off x="731520" y="347472"/>
            <a:ext cx="8686800" cy="475488"/>
          </a:xfrm>
          <a:prstGeom prst="rect">
            <a:avLst/>
          </a:prstGeom>
          <a:noFill/>
        </p:spPr>
        <p:txBody>
          <a:bodyPr wrap="square">
            <a:spAutoFit/>
          </a:bodyPr>
          <a:lstStyle/>
          <a:p>
            <a:pPr algn="l">
              <a:spcAft>
                <a:spcPts val="400"/>
              </a:spcAft>
            </a:pPr>
            <a:r>
              <a:rPr lang="en-US" sz="2800" b="1">
                <a:solidFill>
                  <a:srgbClr val="2D231E"/>
                </a:solidFill>
                <a:latin typeface="Georgia"/>
              </a:rPr>
              <a:t>Introduction</a:t>
            </a:r>
          </a:p>
        </p:txBody>
      </p:sp>
      <p:sp>
        <p:nvSpPr>
          <p:cNvPr id="4" name="TextBox 3"/>
          <p:cNvSpPr txBox="1"/>
          <p:nvPr/>
        </p:nvSpPr>
        <p:spPr>
          <a:xfrm>
            <a:off x="731520" y="822960"/>
            <a:ext cx="8686800" cy="274320"/>
          </a:xfrm>
          <a:prstGeom prst="rect">
            <a:avLst/>
          </a:prstGeom>
          <a:noFill/>
        </p:spPr>
        <p:txBody>
          <a:bodyPr wrap="square">
            <a:spAutoFit/>
          </a:bodyPr>
          <a:lstStyle/>
          <a:p>
            <a:pPr algn="l">
              <a:spcAft>
                <a:spcPts val="400"/>
              </a:spcAft>
            </a:pPr>
            <a:r>
              <a:rPr lang="en-US" sz="1100" b="1">
                <a:solidFill>
                  <a:srgbClr val="6B5B4E"/>
                </a:solidFill>
                <a:latin typeface="Calibri"/>
              </a:rPr>
              <a:t>Cloud Telemetry, Quality of Service &amp; Proactive Capacity Planning</a:t>
            </a:r>
          </a:p>
        </p:txBody>
      </p:sp>
      <p:sp>
        <p:nvSpPr>
          <p:cNvPr id="5" name="Rectangle 4"/>
          <p:cNvSpPr/>
          <p:nvPr/>
        </p:nvSpPr>
        <p:spPr>
          <a:xfrm>
            <a:off x="731520" y="1115568"/>
            <a:ext cx="2926080" cy="19050"/>
          </a:xfrm>
          <a:prstGeom prst="rect">
            <a:avLst/>
          </a:prstGeom>
          <a:solidFill>
            <a:srgbClr val="9C89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80160"/>
            <a:ext cx="5303520" cy="219456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389888"/>
            <a:ext cx="4846320" cy="320040"/>
          </a:xfrm>
          <a:prstGeom prst="rect">
            <a:avLst/>
          </a:prstGeom>
          <a:noFill/>
        </p:spPr>
        <p:txBody>
          <a:bodyPr wrap="square">
            <a:spAutoFit/>
          </a:bodyPr>
          <a:lstStyle/>
          <a:p>
            <a:pPr algn="l">
              <a:spcAft>
                <a:spcPts val="400"/>
              </a:spcAft>
            </a:pPr>
            <a:r>
              <a:rPr lang="en-US" sz="1300" b="1">
                <a:solidFill>
                  <a:srgbClr val="8B6F56"/>
                </a:solidFill>
                <a:latin typeface="Georgia"/>
              </a:rPr>
              <a:t>The Engineering Challenge</a:t>
            </a:r>
          </a:p>
        </p:txBody>
      </p:sp>
      <p:sp>
        <p:nvSpPr>
          <p:cNvPr id="8" name="Rectangle 7"/>
          <p:cNvSpPr/>
          <p:nvPr/>
        </p:nvSpPr>
        <p:spPr>
          <a:xfrm>
            <a:off x="960120" y="1719072"/>
            <a:ext cx="484632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029968"/>
            <a:ext cx="4846320" cy="1938528"/>
          </a:xfrm>
          <a:prstGeom prst="rect">
            <a:avLst/>
          </a:prstGeom>
          <a:noFill/>
        </p:spPr>
        <p:txBody>
          <a:bodyPr wrap="square">
            <a:spAutoFit/>
          </a:bodyPr>
          <a:lstStyle/>
          <a:p>
            <a:pPr>
              <a:spcBef>
                <a:spcPts val="150"/>
              </a:spcBef>
              <a:spcAft>
                <a:spcPts val="400"/>
              </a:spcAft>
            </a:pPr>
            <a:r>
              <a:rPr lang="en-US" sz="1400" dirty="0">
                <a:solidFill>
                  <a:srgbClr val="2D231E"/>
                </a:solidFill>
                <a:latin typeface="Calibri"/>
              </a:rPr>
              <a:t>•  Web services must meet strict latency SLAs</a:t>
            </a:r>
          </a:p>
          <a:p>
            <a:pPr>
              <a:spcBef>
                <a:spcPts val="150"/>
              </a:spcBef>
              <a:spcAft>
                <a:spcPts val="400"/>
              </a:spcAft>
            </a:pPr>
            <a:r>
              <a:rPr lang="en-US" sz="1400" dirty="0">
                <a:solidFill>
                  <a:srgbClr val="2D231E"/>
                </a:solidFill>
                <a:latin typeface="Calibri"/>
              </a:rPr>
              <a:t>•  Response time is random, so it needs statistical modelling</a:t>
            </a:r>
          </a:p>
          <a:p>
            <a:pPr>
              <a:spcBef>
                <a:spcPts val="150"/>
              </a:spcBef>
              <a:spcAft>
                <a:spcPts val="400"/>
              </a:spcAft>
            </a:pPr>
            <a:r>
              <a:rPr lang="en-US" sz="1400" dirty="0">
                <a:solidFill>
                  <a:srgbClr val="2D231E"/>
                </a:solidFill>
                <a:latin typeface="Calibri"/>
              </a:rPr>
              <a:t>•  Reactive scaling acts after performance has already dropped</a:t>
            </a:r>
          </a:p>
        </p:txBody>
      </p:sp>
      <p:sp>
        <p:nvSpPr>
          <p:cNvPr id="10" name="Rectangle 9"/>
          <p:cNvSpPr/>
          <p:nvPr/>
        </p:nvSpPr>
        <p:spPr>
          <a:xfrm>
            <a:off x="731520" y="4023360"/>
            <a:ext cx="5303520" cy="219456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133088"/>
            <a:ext cx="4846320" cy="320040"/>
          </a:xfrm>
          <a:prstGeom prst="rect">
            <a:avLst/>
          </a:prstGeom>
          <a:noFill/>
        </p:spPr>
        <p:txBody>
          <a:bodyPr wrap="square">
            <a:spAutoFit/>
          </a:bodyPr>
          <a:lstStyle/>
          <a:p>
            <a:pPr algn="l">
              <a:spcAft>
                <a:spcPts val="400"/>
              </a:spcAft>
            </a:pPr>
            <a:r>
              <a:rPr lang="en-US" sz="1300" b="1">
                <a:solidFill>
                  <a:srgbClr val="8B6F56"/>
                </a:solidFill>
                <a:latin typeface="Georgia"/>
              </a:rPr>
              <a:t>What We Developed</a:t>
            </a:r>
          </a:p>
        </p:txBody>
      </p:sp>
      <p:sp>
        <p:nvSpPr>
          <p:cNvPr id="12" name="Rectangle 11"/>
          <p:cNvSpPr/>
          <p:nvPr/>
        </p:nvSpPr>
        <p:spPr>
          <a:xfrm>
            <a:off x="960120" y="4462272"/>
            <a:ext cx="484632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4526280"/>
            <a:ext cx="4846320" cy="1107996"/>
          </a:xfrm>
          <a:prstGeom prst="rect">
            <a:avLst/>
          </a:prstGeom>
          <a:noFill/>
        </p:spPr>
        <p:txBody>
          <a:bodyPr wrap="square">
            <a:spAutoFit/>
          </a:bodyPr>
          <a:lstStyle/>
          <a:p>
            <a:pPr>
              <a:spcBef>
                <a:spcPts val="150"/>
              </a:spcBef>
              <a:spcAft>
                <a:spcPts val="400"/>
              </a:spcAft>
            </a:pPr>
            <a:r>
              <a:rPr lang="en-US" sz="1400" dirty="0">
                <a:solidFill>
                  <a:srgbClr val="2D231E"/>
                </a:solidFill>
                <a:latin typeface="Calibri"/>
              </a:rPr>
              <a:t>•  Defined response time for 5,000 cloud task records</a:t>
            </a:r>
          </a:p>
          <a:p>
            <a:pPr>
              <a:spcBef>
                <a:spcPts val="150"/>
              </a:spcBef>
              <a:spcAft>
                <a:spcPts val="400"/>
              </a:spcAft>
            </a:pPr>
            <a:r>
              <a:rPr lang="en-US" sz="1400" dirty="0">
                <a:solidFill>
                  <a:srgbClr val="2D231E"/>
                </a:solidFill>
                <a:latin typeface="Calibri"/>
              </a:rPr>
              <a:t>•  Fitted simple and multiple  regression (random forest as benchmark)</a:t>
            </a:r>
          </a:p>
          <a:p>
            <a:pPr>
              <a:spcBef>
                <a:spcPts val="150"/>
              </a:spcBef>
              <a:spcAft>
                <a:spcPts val="400"/>
              </a:spcAft>
            </a:pPr>
            <a:r>
              <a:rPr lang="en-US" sz="1400" dirty="0">
                <a:solidFill>
                  <a:srgbClr val="2D231E"/>
                </a:solidFill>
                <a:latin typeface="Calibri"/>
              </a:rPr>
              <a:t>•  Tested with t-tests, F-test and 95% CIs in two scenarios</a:t>
            </a:r>
          </a:p>
        </p:txBody>
      </p:sp>
      <p:pic>
        <p:nvPicPr>
          <p:cNvPr id="14" name="Picture 13" descr="server.jpg"/>
          <p:cNvPicPr>
            <a:picLocks noChangeAspect="1"/>
          </p:cNvPicPr>
          <p:nvPr/>
        </p:nvPicPr>
        <p:blipFill>
          <a:blip r:embed="rId3"/>
          <a:stretch>
            <a:fillRect/>
          </a:stretch>
        </p:blipFill>
        <p:spPr>
          <a:xfrm>
            <a:off x="6492240" y="1280160"/>
            <a:ext cx="5029200" cy="2834640"/>
          </a:xfrm>
          <a:prstGeom prst="rect">
            <a:avLst/>
          </a:prstGeom>
        </p:spPr>
      </p:pic>
      <p:sp>
        <p:nvSpPr>
          <p:cNvPr id="15" name="Rectangle 14"/>
          <p:cNvSpPr/>
          <p:nvPr/>
        </p:nvSpPr>
        <p:spPr>
          <a:xfrm>
            <a:off x="6492240" y="4297680"/>
            <a:ext cx="5029200" cy="192024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20840" y="4407408"/>
            <a:ext cx="4572000" cy="320040"/>
          </a:xfrm>
          <a:prstGeom prst="rect">
            <a:avLst/>
          </a:prstGeom>
          <a:noFill/>
        </p:spPr>
        <p:txBody>
          <a:bodyPr wrap="square">
            <a:spAutoFit/>
          </a:bodyPr>
          <a:lstStyle/>
          <a:p>
            <a:pPr algn="l">
              <a:spcAft>
                <a:spcPts val="400"/>
              </a:spcAft>
            </a:pPr>
            <a:r>
              <a:rPr lang="en-US" sz="1300" b="1">
                <a:solidFill>
                  <a:srgbClr val="8B6F56"/>
                </a:solidFill>
                <a:latin typeface="Georgia"/>
              </a:rPr>
              <a:t>Fundamental Queueing Latency Model</a:t>
            </a:r>
          </a:p>
        </p:txBody>
      </p:sp>
      <p:sp>
        <p:nvSpPr>
          <p:cNvPr id="17" name="Rectangle 16"/>
          <p:cNvSpPr/>
          <p:nvPr/>
        </p:nvSpPr>
        <p:spPr>
          <a:xfrm>
            <a:off x="6720840" y="4736592"/>
            <a:ext cx="457200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20840" y="4800600"/>
            <a:ext cx="4572000" cy="1298448"/>
          </a:xfrm>
          <a:prstGeom prst="rect">
            <a:avLst/>
          </a:prstGeom>
          <a:noFill/>
        </p:spPr>
        <p:txBody>
          <a:bodyPr wrap="square">
            <a:spAutoFit/>
          </a:bodyPr>
          <a:lstStyle/>
          <a:p>
            <a:pPr>
              <a:spcBef>
                <a:spcPts val="150"/>
              </a:spcBef>
              <a:spcAft>
                <a:spcPts val="400"/>
              </a:spcAft>
            </a:pPr>
            <a:r>
              <a:rPr lang="en-US" sz="1400">
                <a:solidFill>
                  <a:srgbClr val="2D231E"/>
                </a:solidFill>
                <a:latin typeface="Calibri"/>
              </a:rPr>
              <a:t>•  Total latency: T_response = T_waiting + T_execution</a:t>
            </a:r>
          </a:p>
          <a:p>
            <a:pPr>
              <a:spcBef>
                <a:spcPts val="150"/>
              </a:spcBef>
              <a:spcAft>
                <a:spcPts val="400"/>
              </a:spcAft>
            </a:pPr>
            <a:r>
              <a:rPr lang="en-US" sz="1400">
                <a:solidFill>
                  <a:srgbClr val="2D231E"/>
                </a:solidFill>
                <a:latin typeface="Calibri"/>
              </a:rPr>
              <a:t>•  T_waiting: queue delay before a worker is free</a:t>
            </a:r>
          </a:p>
          <a:p>
            <a:pPr>
              <a:spcBef>
                <a:spcPts val="150"/>
              </a:spcBef>
              <a:spcAft>
                <a:spcPts val="400"/>
              </a:spcAft>
            </a:pPr>
            <a:r>
              <a:rPr lang="en-US" sz="1400">
                <a:solidFill>
                  <a:srgbClr val="2D231E"/>
                </a:solidFill>
                <a:latin typeface="Calibri"/>
              </a:rPr>
              <a:t>•  T_execution: compute, database and I/O time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11338560" y="6309360"/>
            <a:ext cx="731520" cy="365760"/>
          </a:xfrm>
          <a:prstGeom prst="rect">
            <a:avLst/>
          </a:prstGeom>
          <a:noFill/>
        </p:spPr>
        <p:txBody>
          <a:bodyPr wrap="square">
            <a:spAutoFit/>
          </a:bodyPr>
          <a:lstStyle/>
          <a:p>
            <a:pPr algn="r">
              <a:spcAft>
                <a:spcPts val="400"/>
              </a:spcAft>
            </a:pPr>
            <a:r>
              <a:rPr lang="en-US" sz="1100" b="0">
                <a:solidFill>
                  <a:srgbClr val="9C8976"/>
                </a:solidFill>
                <a:latin typeface="Georgia"/>
              </a:rPr>
              <a:t>03</a:t>
            </a:r>
          </a:p>
        </p:txBody>
      </p:sp>
      <p:sp>
        <p:nvSpPr>
          <p:cNvPr id="3" name="TextBox 2"/>
          <p:cNvSpPr txBox="1"/>
          <p:nvPr/>
        </p:nvSpPr>
        <p:spPr>
          <a:xfrm>
            <a:off x="731520" y="347472"/>
            <a:ext cx="8686800" cy="475488"/>
          </a:xfrm>
          <a:prstGeom prst="rect">
            <a:avLst/>
          </a:prstGeom>
          <a:noFill/>
        </p:spPr>
        <p:txBody>
          <a:bodyPr wrap="square">
            <a:spAutoFit/>
          </a:bodyPr>
          <a:lstStyle/>
          <a:p>
            <a:pPr algn="l">
              <a:spcAft>
                <a:spcPts val="400"/>
              </a:spcAft>
            </a:pPr>
            <a:r>
              <a:rPr lang="en-US" sz="2800" b="1">
                <a:solidFill>
                  <a:srgbClr val="2D231E"/>
                </a:solidFill>
                <a:latin typeface="Georgia"/>
              </a:rPr>
              <a:t>Aims &amp; Objectives</a:t>
            </a:r>
          </a:p>
        </p:txBody>
      </p:sp>
      <p:sp>
        <p:nvSpPr>
          <p:cNvPr id="4" name="TextBox 3"/>
          <p:cNvSpPr txBox="1"/>
          <p:nvPr/>
        </p:nvSpPr>
        <p:spPr>
          <a:xfrm>
            <a:off x="740664" y="822960"/>
            <a:ext cx="8686800" cy="261610"/>
          </a:xfrm>
          <a:prstGeom prst="rect">
            <a:avLst/>
          </a:prstGeom>
          <a:noFill/>
        </p:spPr>
        <p:txBody>
          <a:bodyPr wrap="square">
            <a:spAutoFit/>
          </a:bodyPr>
          <a:lstStyle/>
          <a:p>
            <a:pPr algn="l">
              <a:spcAft>
                <a:spcPts val="400"/>
              </a:spcAft>
            </a:pPr>
            <a:r>
              <a:rPr lang="en-US" sz="1100" b="1" dirty="0">
                <a:solidFill>
                  <a:srgbClr val="6B5B4E"/>
                </a:solidFill>
                <a:latin typeface="Calibri"/>
              </a:rPr>
              <a:t>Project Purpose, Objectives &amp; Course Outcomes</a:t>
            </a:r>
          </a:p>
        </p:txBody>
      </p:sp>
      <p:sp>
        <p:nvSpPr>
          <p:cNvPr id="5" name="Rectangle 4"/>
          <p:cNvSpPr/>
          <p:nvPr/>
        </p:nvSpPr>
        <p:spPr>
          <a:xfrm>
            <a:off x="731520" y="1115568"/>
            <a:ext cx="2926080" cy="19050"/>
          </a:xfrm>
          <a:prstGeom prst="rect">
            <a:avLst/>
          </a:prstGeom>
          <a:solidFill>
            <a:srgbClr val="9C89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34440"/>
            <a:ext cx="10698480" cy="118872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344168"/>
            <a:ext cx="10241280" cy="320040"/>
          </a:xfrm>
          <a:prstGeom prst="rect">
            <a:avLst/>
          </a:prstGeom>
          <a:noFill/>
        </p:spPr>
        <p:txBody>
          <a:bodyPr wrap="square">
            <a:spAutoFit/>
          </a:bodyPr>
          <a:lstStyle/>
          <a:p>
            <a:pPr algn="l">
              <a:spcAft>
                <a:spcPts val="400"/>
              </a:spcAft>
            </a:pPr>
            <a:r>
              <a:rPr lang="en-US" sz="1350" b="1">
                <a:solidFill>
                  <a:srgbClr val="8B6F56"/>
                </a:solidFill>
                <a:latin typeface="Georgia"/>
              </a:rPr>
              <a:t>Project Aim</a:t>
            </a:r>
          </a:p>
        </p:txBody>
      </p:sp>
      <p:sp>
        <p:nvSpPr>
          <p:cNvPr id="8" name="Rectangle 7"/>
          <p:cNvSpPr/>
          <p:nvPr/>
        </p:nvSpPr>
        <p:spPr>
          <a:xfrm>
            <a:off x="960120" y="1673352"/>
            <a:ext cx="1024128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737360"/>
            <a:ext cx="10241280" cy="566928"/>
          </a:xfrm>
          <a:prstGeom prst="rect">
            <a:avLst/>
          </a:prstGeom>
          <a:noFill/>
        </p:spPr>
        <p:txBody>
          <a:bodyPr wrap="square">
            <a:spAutoFit/>
          </a:bodyPr>
          <a:lstStyle/>
          <a:p>
            <a:pPr>
              <a:spcBef>
                <a:spcPts val="150"/>
              </a:spcBef>
              <a:spcAft>
                <a:spcPts val="400"/>
              </a:spcAft>
            </a:pPr>
            <a:r>
              <a:rPr lang="en-US" sz="1400">
                <a:solidFill>
                  <a:srgbClr val="2D231E"/>
                </a:solidFill>
                <a:latin typeface="Calibri"/>
              </a:rPr>
              <a:t>•  Aim: predict server response time from workload parameters using regression</a:t>
            </a:r>
          </a:p>
          <a:p>
            <a:pPr>
              <a:spcBef>
                <a:spcPts val="150"/>
              </a:spcBef>
              <a:spcAft>
                <a:spcPts val="400"/>
              </a:spcAft>
            </a:pPr>
            <a:r>
              <a:rPr lang="en-US" sz="1400">
                <a:solidFill>
                  <a:srgbClr val="2D231E"/>
                </a:solidFill>
                <a:latin typeface="Calibri"/>
              </a:rPr>
              <a:t>•  Test statistically which parameters truly influence it</a:t>
            </a:r>
          </a:p>
        </p:txBody>
      </p:sp>
      <p:sp>
        <p:nvSpPr>
          <p:cNvPr id="10" name="Rectangle 9"/>
          <p:cNvSpPr/>
          <p:nvPr/>
        </p:nvSpPr>
        <p:spPr>
          <a:xfrm>
            <a:off x="731520" y="2560320"/>
            <a:ext cx="5230368" cy="379476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670048"/>
            <a:ext cx="4773168" cy="320040"/>
          </a:xfrm>
          <a:prstGeom prst="rect">
            <a:avLst/>
          </a:prstGeom>
          <a:noFill/>
        </p:spPr>
        <p:txBody>
          <a:bodyPr wrap="square">
            <a:spAutoFit/>
          </a:bodyPr>
          <a:lstStyle/>
          <a:p>
            <a:pPr algn="l">
              <a:spcAft>
                <a:spcPts val="400"/>
              </a:spcAft>
            </a:pPr>
            <a:r>
              <a:rPr lang="en-US" sz="1300" b="1">
                <a:solidFill>
                  <a:srgbClr val="8B6F56"/>
                </a:solidFill>
                <a:latin typeface="Georgia"/>
              </a:rPr>
              <a:t>Project Objectives</a:t>
            </a:r>
          </a:p>
        </p:txBody>
      </p:sp>
      <p:sp>
        <p:nvSpPr>
          <p:cNvPr id="12" name="Rectangle 11"/>
          <p:cNvSpPr/>
          <p:nvPr/>
        </p:nvSpPr>
        <p:spPr>
          <a:xfrm>
            <a:off x="960120" y="2990088"/>
            <a:ext cx="4773168"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3429000"/>
            <a:ext cx="4773168" cy="3172968"/>
          </a:xfrm>
          <a:prstGeom prst="rect">
            <a:avLst/>
          </a:prstGeom>
          <a:noFill/>
        </p:spPr>
        <p:txBody>
          <a:bodyPr wrap="square">
            <a:spAutoFit/>
          </a:bodyPr>
          <a:lstStyle/>
          <a:p>
            <a:pPr>
              <a:spcBef>
                <a:spcPts val="200"/>
              </a:spcBef>
              <a:spcAft>
                <a:spcPts val="300"/>
              </a:spcAft>
            </a:pPr>
            <a:r>
              <a:rPr lang="en-US" sz="1300" dirty="0">
                <a:solidFill>
                  <a:srgbClr val="2D231E"/>
                </a:solidFill>
                <a:latin typeface="Calibri"/>
              </a:rPr>
              <a:t>1. Data Preparation:</a:t>
            </a:r>
          </a:p>
          <a:p>
            <a:pPr>
              <a:spcBef>
                <a:spcPts val="100"/>
              </a:spcBef>
              <a:spcAft>
                <a:spcPts val="200"/>
              </a:spcAft>
            </a:pPr>
            <a:r>
              <a:rPr lang="en-US" sz="1300" dirty="0">
                <a:solidFill>
                  <a:srgbClr val="2D231E"/>
                </a:solidFill>
                <a:latin typeface="Calibri"/>
              </a:rPr>
              <a:t>        Define response time; clean and explore 5,000 records.</a:t>
            </a:r>
          </a:p>
          <a:p>
            <a:pPr>
              <a:spcAft>
                <a:spcPts val="200"/>
              </a:spcAft>
            </a:pPr>
            <a:endParaRPr lang="en-US" sz="1300" dirty="0">
              <a:solidFill>
                <a:srgbClr val="2D231E"/>
              </a:solidFill>
              <a:latin typeface="Calibri"/>
            </a:endParaRPr>
          </a:p>
          <a:p>
            <a:pPr>
              <a:spcBef>
                <a:spcPts val="200"/>
              </a:spcBef>
              <a:spcAft>
                <a:spcPts val="300"/>
              </a:spcAft>
            </a:pPr>
            <a:r>
              <a:rPr lang="en-US" sz="1300" dirty="0">
                <a:solidFill>
                  <a:srgbClr val="2D231E"/>
                </a:solidFill>
                <a:latin typeface="Calibri"/>
              </a:rPr>
              <a:t>2. Regression Modeling:</a:t>
            </a:r>
          </a:p>
          <a:p>
            <a:pPr>
              <a:spcBef>
                <a:spcPts val="100"/>
              </a:spcBef>
              <a:spcAft>
                <a:spcPts val="200"/>
              </a:spcAft>
            </a:pPr>
            <a:r>
              <a:rPr lang="en-US" sz="1300" dirty="0">
                <a:solidFill>
                  <a:srgbClr val="2D231E"/>
                </a:solidFill>
                <a:latin typeface="Calibri"/>
              </a:rPr>
              <a:t>        Fit simple and multiple OLS models in Python.</a:t>
            </a:r>
          </a:p>
          <a:p>
            <a:pPr>
              <a:spcAft>
                <a:spcPts val="200"/>
              </a:spcAft>
            </a:pPr>
            <a:endParaRPr lang="en-US" sz="1300" dirty="0">
              <a:solidFill>
                <a:srgbClr val="2D231E"/>
              </a:solidFill>
              <a:latin typeface="Calibri"/>
            </a:endParaRPr>
          </a:p>
          <a:p>
            <a:pPr>
              <a:spcBef>
                <a:spcPts val="200"/>
              </a:spcBef>
              <a:spcAft>
                <a:spcPts val="300"/>
              </a:spcAft>
            </a:pPr>
            <a:r>
              <a:rPr lang="en-US" sz="1300" dirty="0">
                <a:solidFill>
                  <a:srgbClr val="2D231E"/>
                </a:solidFill>
                <a:latin typeface="Calibri"/>
              </a:rPr>
              <a:t>3. Statistical Testing:</a:t>
            </a:r>
          </a:p>
          <a:p>
            <a:pPr>
              <a:spcBef>
                <a:spcPts val="100"/>
              </a:spcBef>
              <a:spcAft>
                <a:spcPts val="200"/>
              </a:spcAft>
            </a:pPr>
            <a:r>
              <a:rPr lang="en-US" sz="1300" dirty="0">
                <a:solidFill>
                  <a:srgbClr val="2D231E"/>
                </a:solidFill>
                <a:latin typeface="Calibri"/>
              </a:rPr>
              <a:t>        Evaluate with R², MAE, RMSE, CV, t-tests, F-test and CIs.</a:t>
            </a:r>
          </a:p>
        </p:txBody>
      </p:sp>
      <p:sp>
        <p:nvSpPr>
          <p:cNvPr id="14" name="Rectangle 13"/>
          <p:cNvSpPr/>
          <p:nvPr/>
        </p:nvSpPr>
        <p:spPr>
          <a:xfrm>
            <a:off x="6217920" y="2560320"/>
            <a:ext cx="5230368" cy="379476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6520" y="2670048"/>
            <a:ext cx="4773168" cy="320040"/>
          </a:xfrm>
          <a:prstGeom prst="rect">
            <a:avLst/>
          </a:prstGeom>
          <a:noFill/>
        </p:spPr>
        <p:txBody>
          <a:bodyPr wrap="square">
            <a:spAutoFit/>
          </a:bodyPr>
          <a:lstStyle/>
          <a:p>
            <a:pPr algn="l">
              <a:spcAft>
                <a:spcPts val="400"/>
              </a:spcAft>
            </a:pPr>
            <a:r>
              <a:rPr lang="en-US" sz="1300" b="1">
                <a:solidFill>
                  <a:srgbClr val="8B6F56"/>
                </a:solidFill>
                <a:latin typeface="Georgia"/>
              </a:rPr>
              <a:t>Course Outcomes (CO) Alignment</a:t>
            </a:r>
          </a:p>
        </p:txBody>
      </p:sp>
      <p:sp>
        <p:nvSpPr>
          <p:cNvPr id="16" name="Rectangle 15"/>
          <p:cNvSpPr/>
          <p:nvPr/>
        </p:nvSpPr>
        <p:spPr>
          <a:xfrm>
            <a:off x="6446520" y="2999232"/>
            <a:ext cx="4773168"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58714" y="3429000"/>
            <a:ext cx="4773168" cy="3172968"/>
          </a:xfrm>
          <a:prstGeom prst="rect">
            <a:avLst/>
          </a:prstGeom>
          <a:noFill/>
        </p:spPr>
        <p:txBody>
          <a:bodyPr wrap="square">
            <a:spAutoFit/>
          </a:bodyPr>
          <a:lstStyle/>
          <a:p>
            <a:pPr>
              <a:spcBef>
                <a:spcPts val="150"/>
              </a:spcBef>
              <a:spcAft>
                <a:spcPts val="400"/>
              </a:spcAft>
            </a:pPr>
            <a:r>
              <a:rPr lang="en-US" sz="1300" dirty="0">
                <a:solidFill>
                  <a:srgbClr val="2D231E"/>
                </a:solidFill>
                <a:latin typeface="Calibri"/>
              </a:rPr>
              <a:t>•  CO2 &amp; CO3 (Modeling &amp; Prediction):</a:t>
            </a:r>
          </a:p>
          <a:p>
            <a:pPr>
              <a:spcBef>
                <a:spcPts val="100"/>
              </a:spcBef>
              <a:spcAft>
                <a:spcPts val="250"/>
              </a:spcAft>
            </a:pPr>
            <a:r>
              <a:rPr lang="en-US" sz="1300" dirty="0">
                <a:solidFill>
                  <a:srgbClr val="2D231E"/>
                </a:solidFill>
                <a:latin typeface="Calibri"/>
              </a:rPr>
              <a:t>    •  Model uncertain workload data; predict response time.</a:t>
            </a:r>
          </a:p>
          <a:p>
            <a:pPr>
              <a:spcAft>
                <a:spcPts val="200"/>
              </a:spcAft>
            </a:pPr>
            <a:endParaRPr lang="en-US" sz="1300" dirty="0">
              <a:solidFill>
                <a:srgbClr val="2D231E"/>
              </a:solidFill>
              <a:latin typeface="Calibri"/>
            </a:endParaRPr>
          </a:p>
          <a:p>
            <a:pPr>
              <a:spcBef>
                <a:spcPts val="150"/>
              </a:spcBef>
              <a:spcAft>
                <a:spcPts val="400"/>
              </a:spcAft>
            </a:pPr>
            <a:r>
              <a:rPr lang="en-US" sz="1300" dirty="0">
                <a:solidFill>
                  <a:srgbClr val="2D231E"/>
                </a:solidFill>
                <a:latin typeface="Calibri"/>
              </a:rPr>
              <a:t>•  CO4 (Justification):</a:t>
            </a:r>
          </a:p>
          <a:p>
            <a:pPr>
              <a:spcBef>
                <a:spcPts val="100"/>
              </a:spcBef>
              <a:spcAft>
                <a:spcPts val="250"/>
              </a:spcAft>
            </a:pPr>
            <a:r>
              <a:rPr lang="en-US" sz="1300" dirty="0">
                <a:solidFill>
                  <a:srgbClr val="2D231E"/>
                </a:solidFill>
                <a:latin typeface="Calibri"/>
              </a:rPr>
              <a:t>    •  Justify linear regression with OLS mathematics and tests.</a:t>
            </a:r>
          </a:p>
          <a:p>
            <a:pPr>
              <a:spcAft>
                <a:spcPts val="200"/>
              </a:spcAft>
            </a:pPr>
            <a:endParaRPr lang="en-US" sz="1300" dirty="0">
              <a:solidFill>
                <a:srgbClr val="2D231E"/>
              </a:solidFill>
              <a:latin typeface="Calibri"/>
            </a:endParaRPr>
          </a:p>
          <a:p>
            <a:pPr>
              <a:spcBef>
                <a:spcPts val="150"/>
              </a:spcBef>
              <a:spcAft>
                <a:spcPts val="400"/>
              </a:spcAft>
            </a:pPr>
            <a:r>
              <a:rPr lang="en-US" sz="1300" dirty="0">
                <a:solidFill>
                  <a:srgbClr val="2D231E"/>
                </a:solidFill>
                <a:latin typeface="Calibri"/>
              </a:rPr>
              <a:t>•  CO5 (Validation):</a:t>
            </a:r>
          </a:p>
          <a:p>
            <a:pPr>
              <a:spcBef>
                <a:spcPts val="100"/>
              </a:spcBef>
              <a:spcAft>
                <a:spcPts val="250"/>
              </a:spcAft>
            </a:pPr>
            <a:r>
              <a:rPr lang="en-US" sz="1300" dirty="0">
                <a:solidFill>
                  <a:srgbClr val="2D231E"/>
                </a:solidFill>
                <a:latin typeface="Calibri"/>
              </a:rPr>
              <a:t>    •  Validate with F-test, t-tests, CIs and cross-validation.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11338560" y="6309360"/>
            <a:ext cx="731520" cy="365760"/>
          </a:xfrm>
          <a:prstGeom prst="rect">
            <a:avLst/>
          </a:prstGeom>
          <a:noFill/>
        </p:spPr>
        <p:txBody>
          <a:bodyPr wrap="square">
            <a:spAutoFit/>
          </a:bodyPr>
          <a:lstStyle/>
          <a:p>
            <a:pPr algn="r">
              <a:spcAft>
                <a:spcPts val="400"/>
              </a:spcAft>
            </a:pPr>
            <a:r>
              <a:rPr lang="en-US" sz="1100" b="0">
                <a:solidFill>
                  <a:srgbClr val="9C8976"/>
                </a:solidFill>
                <a:latin typeface="Georgia"/>
              </a:rPr>
              <a:t>04</a:t>
            </a:r>
          </a:p>
        </p:txBody>
      </p:sp>
      <p:sp>
        <p:nvSpPr>
          <p:cNvPr id="3" name="TextBox 2"/>
          <p:cNvSpPr txBox="1"/>
          <p:nvPr/>
        </p:nvSpPr>
        <p:spPr>
          <a:xfrm>
            <a:off x="731520" y="347472"/>
            <a:ext cx="8686800" cy="475488"/>
          </a:xfrm>
          <a:prstGeom prst="rect">
            <a:avLst/>
          </a:prstGeom>
          <a:noFill/>
        </p:spPr>
        <p:txBody>
          <a:bodyPr wrap="square">
            <a:spAutoFit/>
          </a:bodyPr>
          <a:lstStyle/>
          <a:p>
            <a:pPr algn="l">
              <a:spcAft>
                <a:spcPts val="400"/>
              </a:spcAft>
            </a:pPr>
            <a:r>
              <a:rPr lang="en-US" sz="2800" b="1">
                <a:solidFill>
                  <a:srgbClr val="2D231E"/>
                </a:solidFill>
                <a:latin typeface="Georgia"/>
              </a:rPr>
              <a:t>Mathematical Concepts</a:t>
            </a:r>
          </a:p>
        </p:txBody>
      </p:sp>
      <p:sp>
        <p:nvSpPr>
          <p:cNvPr id="4" name="TextBox 3"/>
          <p:cNvSpPr txBox="1"/>
          <p:nvPr/>
        </p:nvSpPr>
        <p:spPr>
          <a:xfrm>
            <a:off x="731520" y="822960"/>
            <a:ext cx="8686800" cy="274320"/>
          </a:xfrm>
          <a:prstGeom prst="rect">
            <a:avLst/>
          </a:prstGeom>
          <a:noFill/>
        </p:spPr>
        <p:txBody>
          <a:bodyPr wrap="square">
            <a:spAutoFit/>
          </a:bodyPr>
          <a:lstStyle/>
          <a:p>
            <a:pPr algn="l">
              <a:spcAft>
                <a:spcPts val="400"/>
              </a:spcAft>
            </a:pPr>
            <a:r>
              <a:rPr lang="en-US" sz="1100" b="1">
                <a:solidFill>
                  <a:srgbClr val="6B5B4E"/>
                </a:solidFill>
                <a:latin typeface="Calibri"/>
              </a:rPr>
              <a:t>Core Statistical Formulations Applied to Server Response Time Prediction</a:t>
            </a:r>
          </a:p>
        </p:txBody>
      </p:sp>
      <p:sp>
        <p:nvSpPr>
          <p:cNvPr id="5" name="Rectangle 4"/>
          <p:cNvSpPr/>
          <p:nvPr/>
        </p:nvSpPr>
        <p:spPr>
          <a:xfrm>
            <a:off x="731520" y="1115568"/>
            <a:ext cx="2926080" cy="19050"/>
          </a:xfrm>
          <a:prstGeom prst="rect">
            <a:avLst/>
          </a:prstGeom>
          <a:solidFill>
            <a:srgbClr val="9C89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80160"/>
            <a:ext cx="3419856" cy="4983480"/>
          </a:xfrm>
          <a:prstGeom prst="rect">
            <a:avLst/>
          </a:prstGeom>
          <a:solidFill>
            <a:srgbClr val="FFFFFF"/>
          </a:solidFill>
          <a:ln w="1524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50976" y="1444752"/>
            <a:ext cx="2980944" cy="594360"/>
          </a:xfrm>
          <a:prstGeom prst="rect">
            <a:avLst/>
          </a:prstGeom>
          <a:noFill/>
        </p:spPr>
        <p:txBody>
          <a:bodyPr wrap="square">
            <a:spAutoFit/>
          </a:bodyPr>
          <a:lstStyle/>
          <a:p>
            <a:pPr algn="l">
              <a:spcAft>
                <a:spcPts val="400"/>
              </a:spcAft>
            </a:pPr>
            <a:r>
              <a:rPr lang="en-US" sz="1250" b="1">
                <a:solidFill>
                  <a:srgbClr val="2D231E"/>
                </a:solidFill>
                <a:latin typeface="Georgia"/>
              </a:rPr>
              <a:t>1. Pearson Correlation</a:t>
            </a:r>
            <a:br/>
            <a:r>
              <a:rPr lang="en-US" sz="1250" b="1">
                <a:solidFill>
                  <a:srgbClr val="2D231E"/>
                </a:solidFill>
                <a:latin typeface="Georgia"/>
              </a:rPr>
              <a:t>Coefficient</a:t>
            </a:r>
          </a:p>
        </p:txBody>
      </p:sp>
      <p:sp>
        <p:nvSpPr>
          <p:cNvPr id="8" name="Rectangle 7"/>
          <p:cNvSpPr/>
          <p:nvPr/>
        </p:nvSpPr>
        <p:spPr>
          <a:xfrm>
            <a:off x="950976" y="2057400"/>
            <a:ext cx="2980944" cy="1524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2423160"/>
            <a:ext cx="2980944" cy="1691640"/>
          </a:xfrm>
          <a:prstGeom prst="rect">
            <a:avLst/>
          </a:prstGeom>
          <a:noFill/>
        </p:spPr>
        <p:txBody>
          <a:bodyPr wrap="square">
            <a:spAutoFit/>
          </a:bodyPr>
          <a:lstStyle/>
          <a:p>
            <a:pPr>
              <a:spcBef>
                <a:spcPts val="150"/>
              </a:spcBef>
              <a:spcAft>
                <a:spcPts val="400"/>
              </a:spcAft>
            </a:pPr>
            <a:r>
              <a:rPr lang="en-US" sz="1300" dirty="0">
                <a:solidFill>
                  <a:srgbClr val="2D231E"/>
                </a:solidFill>
                <a:latin typeface="Calibri"/>
              </a:rPr>
              <a:t>•  Linear association with response time, from −1 to +1</a:t>
            </a:r>
          </a:p>
          <a:p>
            <a:pPr>
              <a:spcBef>
                <a:spcPts val="150"/>
              </a:spcBef>
              <a:spcAft>
                <a:spcPts val="400"/>
              </a:spcAft>
            </a:pPr>
            <a:r>
              <a:rPr lang="en-US" sz="1300" dirty="0">
                <a:solidFill>
                  <a:srgbClr val="2D231E"/>
                </a:solidFill>
                <a:latin typeface="Calibri"/>
              </a:rPr>
              <a:t>•  Predicted duration r = 0.97; CPU, memory, users |r| &lt; 0.03</a:t>
            </a:r>
          </a:p>
        </p:txBody>
      </p:sp>
      <p:sp>
        <p:nvSpPr>
          <p:cNvPr id="10" name="Rectangle 9"/>
          <p:cNvSpPr/>
          <p:nvPr/>
        </p:nvSpPr>
        <p:spPr>
          <a:xfrm>
            <a:off x="950976" y="3977640"/>
            <a:ext cx="2980944" cy="1270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50976" y="4114800"/>
            <a:ext cx="2980944" cy="1965960"/>
          </a:xfrm>
          <a:prstGeom prst="rect">
            <a:avLst/>
          </a:prstGeom>
          <a:solidFill>
            <a:srgbClr val="FAF7F2"/>
          </a:solidFill>
          <a:ln w="1016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formula_pearson.png"/>
          <p:cNvPicPr>
            <a:picLocks noChangeAspect="1"/>
          </p:cNvPicPr>
          <p:nvPr/>
        </p:nvPicPr>
        <p:blipFill>
          <a:blip r:embed="rId3"/>
          <a:stretch>
            <a:fillRect/>
          </a:stretch>
        </p:blipFill>
        <p:spPr>
          <a:xfrm>
            <a:off x="1060704" y="4656053"/>
            <a:ext cx="2761488" cy="883454"/>
          </a:xfrm>
          <a:prstGeom prst="rect">
            <a:avLst/>
          </a:prstGeom>
        </p:spPr>
      </p:pic>
      <p:sp>
        <p:nvSpPr>
          <p:cNvPr id="13" name="Rectangle 12"/>
          <p:cNvSpPr/>
          <p:nvPr/>
        </p:nvSpPr>
        <p:spPr>
          <a:xfrm>
            <a:off x="4379976" y="1280160"/>
            <a:ext cx="3419856" cy="4983480"/>
          </a:xfrm>
          <a:prstGeom prst="rect">
            <a:avLst/>
          </a:prstGeom>
          <a:solidFill>
            <a:srgbClr val="FFFFFF"/>
          </a:solidFill>
          <a:ln w="1524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9432" y="1444752"/>
            <a:ext cx="2980944" cy="477054"/>
          </a:xfrm>
          <a:prstGeom prst="rect">
            <a:avLst/>
          </a:prstGeom>
          <a:noFill/>
        </p:spPr>
        <p:txBody>
          <a:bodyPr wrap="square">
            <a:spAutoFit/>
          </a:bodyPr>
          <a:lstStyle/>
          <a:p>
            <a:pPr algn="l">
              <a:spcAft>
                <a:spcPts val="400"/>
              </a:spcAft>
            </a:pPr>
            <a:r>
              <a:rPr lang="en-US" sz="1250" b="1" dirty="0">
                <a:solidFill>
                  <a:srgbClr val="2D231E"/>
                </a:solidFill>
                <a:latin typeface="Georgia"/>
              </a:rPr>
              <a:t>2. Multiple Linear</a:t>
            </a:r>
            <a:br>
              <a:rPr dirty="0"/>
            </a:br>
            <a:r>
              <a:rPr lang="en-US" sz="1250" b="1" dirty="0">
                <a:solidFill>
                  <a:srgbClr val="2D231E"/>
                </a:solidFill>
                <a:latin typeface="Georgia"/>
              </a:rPr>
              <a:t>Regression </a:t>
            </a:r>
          </a:p>
        </p:txBody>
      </p:sp>
      <p:sp>
        <p:nvSpPr>
          <p:cNvPr id="15" name="Rectangle 14"/>
          <p:cNvSpPr/>
          <p:nvPr/>
        </p:nvSpPr>
        <p:spPr>
          <a:xfrm>
            <a:off x="4599432" y="2057400"/>
            <a:ext cx="2980944" cy="1524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99432" y="2423160"/>
            <a:ext cx="2980944" cy="1691640"/>
          </a:xfrm>
          <a:prstGeom prst="rect">
            <a:avLst/>
          </a:prstGeom>
          <a:noFill/>
        </p:spPr>
        <p:txBody>
          <a:bodyPr wrap="square">
            <a:spAutoFit/>
          </a:bodyPr>
          <a:lstStyle/>
          <a:p>
            <a:pPr>
              <a:spcBef>
                <a:spcPts val="150"/>
              </a:spcBef>
              <a:spcAft>
                <a:spcPts val="400"/>
              </a:spcAft>
            </a:pPr>
            <a:r>
              <a:rPr lang="en-US" sz="1300" dirty="0">
                <a:solidFill>
                  <a:srgbClr val="2D231E"/>
                </a:solidFill>
                <a:latin typeface="Calibri"/>
              </a:rPr>
              <a:t>•  Response time as a weighted sum of workload features</a:t>
            </a:r>
          </a:p>
          <a:p>
            <a:pPr>
              <a:spcBef>
                <a:spcPts val="150"/>
              </a:spcBef>
              <a:spcAft>
                <a:spcPts val="400"/>
              </a:spcAft>
            </a:pPr>
            <a:r>
              <a:rPr lang="en-US" sz="1300" dirty="0">
                <a:solidFill>
                  <a:srgbClr val="2D231E"/>
                </a:solidFill>
                <a:latin typeface="Calibri"/>
              </a:rPr>
              <a:t>•  Least squares fit on 80% of data, tested on 20%</a:t>
            </a:r>
          </a:p>
        </p:txBody>
      </p:sp>
      <p:sp>
        <p:nvSpPr>
          <p:cNvPr id="17" name="Rectangle 16"/>
          <p:cNvSpPr/>
          <p:nvPr/>
        </p:nvSpPr>
        <p:spPr>
          <a:xfrm>
            <a:off x="4599432" y="3977640"/>
            <a:ext cx="2980944" cy="1270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99432" y="4114800"/>
            <a:ext cx="2980944" cy="1965960"/>
          </a:xfrm>
          <a:prstGeom prst="rect">
            <a:avLst/>
          </a:prstGeom>
          <a:solidFill>
            <a:srgbClr val="FAF7F2"/>
          </a:solidFill>
          <a:ln w="1016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ormula_ols.png"/>
          <p:cNvPicPr>
            <a:picLocks noChangeAspect="1"/>
          </p:cNvPicPr>
          <p:nvPr/>
        </p:nvPicPr>
        <p:blipFill>
          <a:blip r:embed="rId4"/>
          <a:stretch>
            <a:fillRect/>
          </a:stretch>
        </p:blipFill>
        <p:spPr>
          <a:xfrm>
            <a:off x="4709160" y="4624104"/>
            <a:ext cx="2761488" cy="947352"/>
          </a:xfrm>
          <a:prstGeom prst="rect">
            <a:avLst/>
          </a:prstGeom>
        </p:spPr>
      </p:pic>
      <p:sp>
        <p:nvSpPr>
          <p:cNvPr id="20" name="Rectangle 19"/>
          <p:cNvSpPr/>
          <p:nvPr/>
        </p:nvSpPr>
        <p:spPr>
          <a:xfrm>
            <a:off x="8028431" y="1280160"/>
            <a:ext cx="3419856" cy="4983480"/>
          </a:xfrm>
          <a:prstGeom prst="rect">
            <a:avLst/>
          </a:prstGeom>
          <a:solidFill>
            <a:srgbClr val="FFFFFF"/>
          </a:solidFill>
          <a:ln w="1524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47887" y="1444752"/>
            <a:ext cx="2980944" cy="594360"/>
          </a:xfrm>
          <a:prstGeom prst="rect">
            <a:avLst/>
          </a:prstGeom>
          <a:noFill/>
        </p:spPr>
        <p:txBody>
          <a:bodyPr wrap="square">
            <a:spAutoFit/>
          </a:bodyPr>
          <a:lstStyle/>
          <a:p>
            <a:pPr algn="l">
              <a:spcAft>
                <a:spcPts val="400"/>
              </a:spcAft>
            </a:pPr>
            <a:r>
              <a:rPr lang="en-US" sz="1250" b="1">
                <a:solidFill>
                  <a:srgbClr val="2D231E"/>
                </a:solidFill>
                <a:latin typeface="Georgia"/>
              </a:rPr>
              <a:t>3. Goodness-of-Fit &amp;</a:t>
            </a:r>
            <a:br/>
            <a:r>
              <a:rPr lang="en-US" sz="1250" b="1">
                <a:solidFill>
                  <a:srgbClr val="2D231E"/>
                </a:solidFill>
                <a:latin typeface="Georgia"/>
              </a:rPr>
              <a:t>ANOVA F-Test</a:t>
            </a:r>
          </a:p>
        </p:txBody>
      </p:sp>
      <p:sp>
        <p:nvSpPr>
          <p:cNvPr id="22" name="Rectangle 21"/>
          <p:cNvSpPr/>
          <p:nvPr/>
        </p:nvSpPr>
        <p:spPr>
          <a:xfrm>
            <a:off x="8247887" y="2057400"/>
            <a:ext cx="2980944" cy="1524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47887" y="2423160"/>
            <a:ext cx="2980944" cy="1691640"/>
          </a:xfrm>
          <a:prstGeom prst="rect">
            <a:avLst/>
          </a:prstGeom>
          <a:noFill/>
        </p:spPr>
        <p:txBody>
          <a:bodyPr wrap="square">
            <a:spAutoFit/>
          </a:bodyPr>
          <a:lstStyle/>
          <a:p>
            <a:pPr>
              <a:spcBef>
                <a:spcPts val="150"/>
              </a:spcBef>
              <a:spcAft>
                <a:spcPts val="400"/>
              </a:spcAft>
            </a:pPr>
            <a:r>
              <a:rPr lang="en-US" sz="1300" dirty="0">
                <a:solidFill>
                  <a:srgbClr val="2D231E"/>
                </a:solidFill>
                <a:latin typeface="Calibri"/>
              </a:rPr>
              <a:t>•  R² = variance explained: 0.002 (workload) vs 0.944 (+ duration)</a:t>
            </a:r>
          </a:p>
          <a:p>
            <a:pPr>
              <a:spcBef>
                <a:spcPts val="150"/>
              </a:spcBef>
              <a:spcAft>
                <a:spcPts val="400"/>
              </a:spcAft>
            </a:pPr>
            <a:r>
              <a:rPr lang="en-US" sz="1300" dirty="0">
                <a:solidFill>
                  <a:srgbClr val="2D231E"/>
                </a:solidFill>
                <a:latin typeface="Calibri"/>
              </a:rPr>
              <a:t>•  F-test p = 0.57 vs &lt; 0.001</a:t>
            </a:r>
          </a:p>
        </p:txBody>
      </p:sp>
      <p:sp>
        <p:nvSpPr>
          <p:cNvPr id="24" name="Rectangle 23"/>
          <p:cNvSpPr/>
          <p:nvPr/>
        </p:nvSpPr>
        <p:spPr>
          <a:xfrm>
            <a:off x="8247887" y="3977640"/>
            <a:ext cx="2980944" cy="1270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247887" y="4114800"/>
            <a:ext cx="2980944" cy="1965960"/>
          </a:xfrm>
          <a:prstGeom prst="rect">
            <a:avLst/>
          </a:prstGeom>
          <a:solidFill>
            <a:srgbClr val="FAF7F2"/>
          </a:solidFill>
          <a:ln w="1016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R squared equals one minus SS residual over SS total; F equals SS regression over k divided by SS residual over n minus k minus one."/>
          <p:cNvPicPr>
            <a:picLocks noChangeAspect="1"/>
          </p:cNvPicPr>
          <p:nvPr/>
        </p:nvPicPr>
        <p:blipFill>
          <a:blip r:embed="rId5"/>
          <a:stretch>
            <a:fillRect/>
          </a:stretch>
        </p:blipFill>
        <p:spPr>
          <a:xfrm>
            <a:off x="8357615" y="4624104"/>
            <a:ext cx="2761488" cy="94735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11338560" y="6309360"/>
            <a:ext cx="731520" cy="365760"/>
          </a:xfrm>
          <a:prstGeom prst="rect">
            <a:avLst/>
          </a:prstGeom>
          <a:noFill/>
        </p:spPr>
        <p:txBody>
          <a:bodyPr wrap="square">
            <a:spAutoFit/>
          </a:bodyPr>
          <a:lstStyle/>
          <a:p>
            <a:pPr algn="r">
              <a:spcAft>
                <a:spcPts val="400"/>
              </a:spcAft>
            </a:pPr>
            <a:r>
              <a:rPr lang="en-US" sz="1100" b="0">
                <a:solidFill>
                  <a:srgbClr val="9C8976"/>
                </a:solidFill>
                <a:latin typeface="Georgia"/>
              </a:rPr>
              <a:t>05</a:t>
            </a:r>
          </a:p>
        </p:txBody>
      </p:sp>
      <p:sp>
        <p:nvSpPr>
          <p:cNvPr id="3" name="TextBox 2"/>
          <p:cNvSpPr txBox="1"/>
          <p:nvPr/>
        </p:nvSpPr>
        <p:spPr>
          <a:xfrm>
            <a:off x="731520" y="347472"/>
            <a:ext cx="8686800" cy="475488"/>
          </a:xfrm>
          <a:prstGeom prst="rect">
            <a:avLst/>
          </a:prstGeom>
          <a:noFill/>
        </p:spPr>
        <p:txBody>
          <a:bodyPr wrap="square">
            <a:spAutoFit/>
          </a:bodyPr>
          <a:lstStyle/>
          <a:p>
            <a:pPr algn="l">
              <a:spcAft>
                <a:spcPts val="400"/>
              </a:spcAft>
            </a:pPr>
            <a:r>
              <a:rPr lang="en-US" sz="2800" b="1">
                <a:solidFill>
                  <a:srgbClr val="2D231E"/>
                </a:solidFill>
                <a:latin typeface="Georgia"/>
              </a:rPr>
              <a:t>Methodology &amp; Algorithms</a:t>
            </a:r>
          </a:p>
        </p:txBody>
      </p:sp>
      <p:sp>
        <p:nvSpPr>
          <p:cNvPr id="4" name="TextBox 3"/>
          <p:cNvSpPr txBox="1"/>
          <p:nvPr/>
        </p:nvSpPr>
        <p:spPr>
          <a:xfrm>
            <a:off x="731520" y="822960"/>
            <a:ext cx="8686800" cy="274320"/>
          </a:xfrm>
          <a:prstGeom prst="rect">
            <a:avLst/>
          </a:prstGeom>
          <a:noFill/>
        </p:spPr>
        <p:txBody>
          <a:bodyPr wrap="square">
            <a:spAutoFit/>
          </a:bodyPr>
          <a:lstStyle/>
          <a:p>
            <a:pPr algn="l">
              <a:spcAft>
                <a:spcPts val="400"/>
              </a:spcAft>
            </a:pPr>
            <a:r>
              <a:rPr lang="en-US" sz="1100" b="1">
                <a:solidFill>
                  <a:srgbClr val="6B5B4E"/>
                </a:solidFill>
                <a:latin typeface="Calibri"/>
              </a:rPr>
              <a:t>System Workflow, Engineering Pipeline &amp; Algorithmic Steps</a:t>
            </a:r>
          </a:p>
        </p:txBody>
      </p:sp>
      <p:sp>
        <p:nvSpPr>
          <p:cNvPr id="5" name="Rectangle 4"/>
          <p:cNvSpPr/>
          <p:nvPr/>
        </p:nvSpPr>
        <p:spPr>
          <a:xfrm>
            <a:off x="731520" y="1115568"/>
            <a:ext cx="2926080" cy="19050"/>
          </a:xfrm>
          <a:prstGeom prst="rect">
            <a:avLst/>
          </a:prstGeom>
          <a:solidFill>
            <a:srgbClr val="9C89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lowchart.jpg"/>
          <p:cNvPicPr>
            <a:picLocks noChangeAspect="1"/>
          </p:cNvPicPr>
          <p:nvPr/>
        </p:nvPicPr>
        <p:blipFill>
          <a:blip r:embed="rId3"/>
          <a:stretch>
            <a:fillRect/>
          </a:stretch>
        </p:blipFill>
        <p:spPr>
          <a:xfrm>
            <a:off x="731520" y="1280160"/>
            <a:ext cx="3657600" cy="5029200"/>
          </a:xfrm>
          <a:prstGeom prst="rect">
            <a:avLst/>
          </a:prstGeom>
        </p:spPr>
      </p:pic>
      <p:sp>
        <p:nvSpPr>
          <p:cNvPr id="7" name="Rectangle 6"/>
          <p:cNvSpPr/>
          <p:nvPr/>
        </p:nvSpPr>
        <p:spPr>
          <a:xfrm>
            <a:off x="4846320" y="1280160"/>
            <a:ext cx="6583680" cy="502920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74920" y="1389888"/>
            <a:ext cx="6126480" cy="292388"/>
          </a:xfrm>
          <a:prstGeom prst="rect">
            <a:avLst/>
          </a:prstGeom>
          <a:noFill/>
        </p:spPr>
        <p:txBody>
          <a:bodyPr wrap="square">
            <a:spAutoFit/>
          </a:bodyPr>
          <a:lstStyle/>
          <a:p>
            <a:pPr algn="l">
              <a:spcAft>
                <a:spcPts val="400"/>
              </a:spcAft>
            </a:pPr>
            <a:r>
              <a:rPr lang="en-US" sz="1300" b="1" dirty="0">
                <a:solidFill>
                  <a:srgbClr val="8B6F56"/>
                </a:solidFill>
                <a:latin typeface="Georgia"/>
              </a:rPr>
              <a:t>Algorithm : Predicting Response Time by Regression</a:t>
            </a:r>
          </a:p>
        </p:txBody>
      </p:sp>
      <p:sp>
        <p:nvSpPr>
          <p:cNvPr id="9" name="Rectangle 8"/>
          <p:cNvSpPr/>
          <p:nvPr/>
        </p:nvSpPr>
        <p:spPr>
          <a:xfrm>
            <a:off x="5074920" y="1719072"/>
            <a:ext cx="612648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74920" y="1783080"/>
            <a:ext cx="5943600" cy="886968"/>
          </a:xfrm>
          <a:prstGeom prst="rect">
            <a:avLst/>
          </a:prstGeom>
          <a:noFill/>
        </p:spPr>
        <p:txBody>
          <a:bodyPr wrap="square">
            <a:spAutoFit/>
          </a:bodyPr>
          <a:lstStyle/>
          <a:p>
            <a:pPr>
              <a:spcBef>
                <a:spcPts val="0"/>
              </a:spcBef>
              <a:spcAft>
                <a:spcPts val="900"/>
              </a:spcAft>
            </a:pPr>
            <a:r>
              <a:rPr lang="en-US" sz="1600" b="1">
                <a:solidFill>
                  <a:srgbClr val="2D231E"/>
                </a:solidFill>
                <a:latin typeface="Calibri"/>
              </a:rPr>
              <a:t>Input:  </a:t>
            </a:r>
            <a:r>
              <a:rPr lang="en-US" sz="1600" b="0">
                <a:solidFill>
                  <a:srgbClr val="2D231E"/>
                </a:solidFill>
                <a:latin typeface="Calibri"/>
              </a:rPr>
              <a:t>cloud workload data (5,000 records)</a:t>
            </a:r>
          </a:p>
          <a:p>
            <a:pPr>
              <a:spcBef>
                <a:spcPts val="0"/>
              </a:spcBef>
              <a:spcAft>
                <a:spcPts val="900"/>
              </a:spcAft>
            </a:pPr>
            <a:r>
              <a:rPr lang="en-US" sz="1600" b="1">
                <a:solidFill>
                  <a:srgbClr val="2D231E"/>
                </a:solidFill>
                <a:latin typeface="Calibri"/>
              </a:rPr>
              <a:t>Output:  </a:t>
            </a:r>
            <a:r>
              <a:rPr lang="en-US" sz="1600" b="0">
                <a:solidFill>
                  <a:srgbClr val="2D231E"/>
                </a:solidFill>
                <a:latin typeface="Calibri"/>
              </a:rPr>
              <a:t>predicted response time, accuracy, significant parameters</a:t>
            </a:r>
          </a:p>
          <a:p>
            <a:pPr>
              <a:spcBef>
                <a:spcPts val="400"/>
              </a:spcBef>
              <a:spcAft>
                <a:spcPts val="900"/>
              </a:spcAft>
            </a:pPr>
            <a:r>
              <a:rPr lang="en-US" sz="1600" b="1">
                <a:solidFill>
                  <a:srgbClr val="2D231E"/>
                </a:solidFill>
                <a:latin typeface="Calibri"/>
              </a:rPr>
              <a:t>1.  </a:t>
            </a:r>
            <a:r>
              <a:rPr lang="en-US" sz="1600" b="0">
                <a:solidFill>
                  <a:srgbClr val="2D231E"/>
                </a:solidFill>
                <a:latin typeface="Calibri"/>
              </a:rPr>
              <a:t>Compute response time = waiting time + execution time</a:t>
            </a:r>
          </a:p>
          <a:p>
            <a:pPr>
              <a:spcBef>
                <a:spcPts val="0"/>
              </a:spcBef>
              <a:spcAft>
                <a:spcPts val="900"/>
              </a:spcAft>
            </a:pPr>
            <a:r>
              <a:rPr lang="en-US" sz="1600" b="1">
                <a:solidFill>
                  <a:srgbClr val="2D231E"/>
                </a:solidFill>
                <a:latin typeface="Calibri"/>
              </a:rPr>
              <a:t>2.  </a:t>
            </a:r>
            <a:r>
              <a:rPr lang="en-US" sz="1600" b="0">
                <a:solidFill>
                  <a:srgbClr val="2D231E"/>
                </a:solidFill>
                <a:latin typeface="Calibri"/>
              </a:rPr>
              <a:t>Clean the data: remove duplicates and outliers</a:t>
            </a:r>
          </a:p>
          <a:p>
            <a:pPr>
              <a:spcBef>
                <a:spcPts val="0"/>
              </a:spcBef>
              <a:spcAft>
                <a:spcPts val="900"/>
              </a:spcAft>
            </a:pPr>
            <a:r>
              <a:rPr lang="en-US" sz="1600" b="1">
                <a:solidFill>
                  <a:srgbClr val="2D231E"/>
                </a:solidFill>
                <a:latin typeface="Calibri"/>
              </a:rPr>
              <a:t>3.  </a:t>
            </a:r>
            <a:r>
              <a:rPr lang="en-US" sz="1600" b="0">
                <a:solidFill>
                  <a:srgbClr val="2D231E"/>
                </a:solidFill>
                <a:latin typeface="Calibri"/>
              </a:rPr>
              <a:t>Select features; split the data 80% train, 20% test</a:t>
            </a:r>
          </a:p>
          <a:p>
            <a:pPr>
              <a:spcBef>
                <a:spcPts val="0"/>
              </a:spcBef>
              <a:spcAft>
                <a:spcPts val="900"/>
              </a:spcAft>
            </a:pPr>
            <a:r>
              <a:rPr lang="en-US" sz="1600" b="1">
                <a:solidFill>
                  <a:srgbClr val="2D231E"/>
                </a:solidFill>
                <a:latin typeface="Calibri"/>
              </a:rPr>
              <a:t>4.  </a:t>
            </a:r>
            <a:r>
              <a:rPr lang="en-US" sz="1600" b="0">
                <a:solidFill>
                  <a:srgbClr val="2D231E"/>
                </a:solidFill>
                <a:latin typeface="Calibri"/>
              </a:rPr>
              <a:t>Fit the model by least squares: β̂ = (XᵀX)⁻¹ Xᵀ y</a:t>
            </a:r>
          </a:p>
          <a:p>
            <a:pPr>
              <a:spcBef>
                <a:spcPts val="0"/>
              </a:spcBef>
              <a:spcAft>
                <a:spcPts val="900"/>
              </a:spcAft>
            </a:pPr>
            <a:r>
              <a:rPr lang="en-US" sz="1600" b="1">
                <a:solidFill>
                  <a:srgbClr val="2D231E"/>
                </a:solidFill>
                <a:latin typeface="Calibri"/>
              </a:rPr>
              <a:t>5.  </a:t>
            </a:r>
            <a:r>
              <a:rPr lang="en-US" sz="1600" b="0">
                <a:solidFill>
                  <a:srgbClr val="2D231E"/>
                </a:solidFill>
                <a:latin typeface="Calibri"/>
              </a:rPr>
              <a:t>Predict response time for the test data: ŷ = X β̂</a:t>
            </a:r>
          </a:p>
          <a:p>
            <a:pPr>
              <a:spcBef>
                <a:spcPts val="0"/>
              </a:spcBef>
              <a:spcAft>
                <a:spcPts val="900"/>
              </a:spcAft>
            </a:pPr>
            <a:r>
              <a:rPr lang="en-US" sz="1600" b="1">
                <a:solidFill>
                  <a:srgbClr val="2D231E"/>
                </a:solidFill>
                <a:latin typeface="Calibri"/>
              </a:rPr>
              <a:t>6.  </a:t>
            </a:r>
            <a:r>
              <a:rPr lang="en-US" sz="1600" b="0">
                <a:solidFill>
                  <a:srgbClr val="2D231E"/>
                </a:solidFill>
                <a:latin typeface="Calibri"/>
              </a:rPr>
              <a:t>Measure accuracy: R², MAE, RMSE, 5-fold CV</a:t>
            </a:r>
          </a:p>
          <a:p>
            <a:pPr>
              <a:spcBef>
                <a:spcPts val="0"/>
              </a:spcBef>
              <a:spcAft>
                <a:spcPts val="900"/>
              </a:spcAft>
            </a:pPr>
            <a:r>
              <a:rPr lang="en-US" sz="1600" b="1">
                <a:solidFill>
                  <a:srgbClr val="2D231E"/>
                </a:solidFill>
                <a:latin typeface="Calibri"/>
              </a:rPr>
              <a:t>7.  </a:t>
            </a:r>
            <a:r>
              <a:rPr lang="en-US" sz="1600" b="0">
                <a:solidFill>
                  <a:srgbClr val="2D231E"/>
                </a:solidFill>
                <a:latin typeface="Calibri"/>
              </a:rPr>
              <a:t>Test each parameter (t-test) and the model (F-test)</a:t>
            </a:r>
          </a:p>
          <a:p>
            <a:pPr>
              <a:spcBef>
                <a:spcPts val="0"/>
              </a:spcBef>
              <a:spcAft>
                <a:spcPts val="900"/>
              </a:spcAft>
            </a:pPr>
            <a:r>
              <a:rPr lang="en-US" sz="1600" b="1">
                <a:solidFill>
                  <a:srgbClr val="2D231E"/>
                </a:solidFill>
                <a:latin typeface="Calibri"/>
              </a:rPr>
              <a:t>8.  </a:t>
            </a:r>
            <a:r>
              <a:rPr lang="en-US" sz="1600" b="0">
                <a:solidFill>
                  <a:srgbClr val="2D231E"/>
                </a:solidFill>
                <a:latin typeface="Calibri"/>
              </a:rPr>
              <a:t>If p &lt; 0.05 then significant, else not significant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11338560" y="6309360"/>
            <a:ext cx="731520" cy="365760"/>
          </a:xfrm>
          <a:prstGeom prst="rect">
            <a:avLst/>
          </a:prstGeom>
          <a:noFill/>
        </p:spPr>
        <p:txBody>
          <a:bodyPr wrap="square">
            <a:spAutoFit/>
          </a:bodyPr>
          <a:lstStyle/>
          <a:p>
            <a:pPr algn="r">
              <a:spcAft>
                <a:spcPts val="400"/>
              </a:spcAft>
            </a:pPr>
            <a:r>
              <a:rPr lang="en-US" sz="1100" b="0">
                <a:solidFill>
                  <a:srgbClr val="9C8976"/>
                </a:solidFill>
                <a:latin typeface="Georgia"/>
              </a:rPr>
              <a:t>06</a:t>
            </a:r>
          </a:p>
        </p:txBody>
      </p:sp>
      <p:sp>
        <p:nvSpPr>
          <p:cNvPr id="3" name="TextBox 2"/>
          <p:cNvSpPr txBox="1"/>
          <p:nvPr/>
        </p:nvSpPr>
        <p:spPr>
          <a:xfrm>
            <a:off x="731520" y="347472"/>
            <a:ext cx="8686800" cy="475488"/>
          </a:xfrm>
          <a:prstGeom prst="rect">
            <a:avLst/>
          </a:prstGeom>
          <a:noFill/>
        </p:spPr>
        <p:txBody>
          <a:bodyPr wrap="square">
            <a:spAutoFit/>
          </a:bodyPr>
          <a:lstStyle/>
          <a:p>
            <a:pPr algn="l">
              <a:spcAft>
                <a:spcPts val="400"/>
              </a:spcAft>
            </a:pPr>
            <a:r>
              <a:rPr lang="en-US" sz="2800" b="1">
                <a:solidFill>
                  <a:srgbClr val="2D231E"/>
                </a:solidFill>
                <a:latin typeface="Georgia"/>
              </a:rPr>
              <a:t>Implementation Using Python</a:t>
            </a:r>
          </a:p>
        </p:txBody>
      </p:sp>
      <p:sp>
        <p:nvSpPr>
          <p:cNvPr id="4" name="TextBox 3"/>
          <p:cNvSpPr txBox="1"/>
          <p:nvPr/>
        </p:nvSpPr>
        <p:spPr>
          <a:xfrm>
            <a:off x="731520" y="822960"/>
            <a:ext cx="8686800" cy="274320"/>
          </a:xfrm>
          <a:prstGeom prst="rect">
            <a:avLst/>
          </a:prstGeom>
          <a:noFill/>
        </p:spPr>
        <p:txBody>
          <a:bodyPr wrap="square">
            <a:spAutoFit/>
          </a:bodyPr>
          <a:lstStyle/>
          <a:p>
            <a:pPr algn="l">
              <a:spcAft>
                <a:spcPts val="400"/>
              </a:spcAft>
            </a:pPr>
            <a:r>
              <a:rPr lang="en-US" sz="1100" b="1">
                <a:solidFill>
                  <a:srgbClr val="6B5B4E"/>
                </a:solidFill>
                <a:latin typeface="Calibri"/>
              </a:rPr>
              <a:t>Scientific Computing Stack, Data Pipeline &amp; Visualizations</a:t>
            </a:r>
          </a:p>
        </p:txBody>
      </p:sp>
      <p:sp>
        <p:nvSpPr>
          <p:cNvPr id="5" name="Rectangle 4"/>
          <p:cNvSpPr/>
          <p:nvPr/>
        </p:nvSpPr>
        <p:spPr>
          <a:xfrm>
            <a:off x="731520" y="1115568"/>
            <a:ext cx="2926080" cy="19050"/>
          </a:xfrm>
          <a:prstGeom prst="rect">
            <a:avLst/>
          </a:prstGeom>
          <a:solidFill>
            <a:srgbClr val="9C89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80160"/>
            <a:ext cx="5120640" cy="274320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389888"/>
            <a:ext cx="4663440" cy="320040"/>
          </a:xfrm>
          <a:prstGeom prst="rect">
            <a:avLst/>
          </a:prstGeom>
          <a:noFill/>
        </p:spPr>
        <p:txBody>
          <a:bodyPr wrap="square">
            <a:spAutoFit/>
          </a:bodyPr>
          <a:lstStyle/>
          <a:p>
            <a:pPr algn="l">
              <a:spcAft>
                <a:spcPts val="400"/>
              </a:spcAft>
            </a:pPr>
            <a:r>
              <a:rPr lang="en-US" sz="1300" b="1">
                <a:solidFill>
                  <a:srgbClr val="8B6F56"/>
                </a:solidFill>
                <a:latin typeface="Georgia"/>
              </a:rPr>
              <a:t>Python Scientific Software Stack</a:t>
            </a:r>
          </a:p>
        </p:txBody>
      </p:sp>
      <p:sp>
        <p:nvSpPr>
          <p:cNvPr id="8" name="Rectangle 7"/>
          <p:cNvSpPr/>
          <p:nvPr/>
        </p:nvSpPr>
        <p:spPr>
          <a:xfrm>
            <a:off x="960120" y="1719072"/>
            <a:ext cx="466344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084832"/>
            <a:ext cx="4663440" cy="2121408"/>
          </a:xfrm>
          <a:prstGeom prst="rect">
            <a:avLst/>
          </a:prstGeom>
          <a:noFill/>
        </p:spPr>
        <p:txBody>
          <a:bodyPr wrap="square">
            <a:spAutoFit/>
          </a:bodyPr>
          <a:lstStyle/>
          <a:p>
            <a:pPr>
              <a:spcBef>
                <a:spcPts val="150"/>
              </a:spcBef>
              <a:spcAft>
                <a:spcPts val="400"/>
              </a:spcAft>
            </a:pPr>
            <a:r>
              <a:rPr lang="en-US" sz="1200">
                <a:solidFill>
                  <a:srgbClr val="2D231E"/>
                </a:solidFill>
                <a:latin typeface="Calibri"/>
              </a:rPr>
              <a:t>•  pandas: loading, cleaning, IQR bounds</a:t>
            </a:r>
          </a:p>
          <a:p>
            <a:pPr>
              <a:spcBef>
                <a:spcPts val="150"/>
              </a:spcBef>
              <a:spcAft>
                <a:spcPts val="400"/>
              </a:spcAft>
            </a:pPr>
            <a:r>
              <a:rPr lang="en-US" sz="1200">
                <a:solidFill>
                  <a:srgbClr val="2D231E"/>
                </a:solidFill>
                <a:latin typeface="Calibri"/>
              </a:rPr>
              <a:t>•  numpy: matrix operations for OLS</a:t>
            </a:r>
          </a:p>
          <a:p>
            <a:pPr>
              <a:spcBef>
                <a:spcPts val="150"/>
              </a:spcBef>
              <a:spcAft>
                <a:spcPts val="400"/>
              </a:spcAft>
            </a:pPr>
            <a:r>
              <a:rPr lang="en-US" sz="1200">
                <a:solidFill>
                  <a:srgbClr val="2D231E"/>
                </a:solidFill>
                <a:latin typeface="Calibri"/>
              </a:rPr>
              <a:t>•  scikit-learn: scaling, regression, cross-validation</a:t>
            </a:r>
          </a:p>
          <a:p>
            <a:pPr>
              <a:spcBef>
                <a:spcPts val="150"/>
              </a:spcBef>
              <a:spcAft>
                <a:spcPts val="400"/>
              </a:spcAft>
            </a:pPr>
            <a:r>
              <a:rPr lang="en-US" sz="1200">
                <a:solidFill>
                  <a:srgbClr val="2D231E"/>
                </a:solidFill>
                <a:latin typeface="Calibri"/>
              </a:rPr>
              <a:t>•  statsmodels: OLS, t-tests, F-test, CIs</a:t>
            </a:r>
          </a:p>
          <a:p>
            <a:pPr>
              <a:spcBef>
                <a:spcPts val="150"/>
              </a:spcBef>
              <a:spcAft>
                <a:spcPts val="400"/>
              </a:spcAft>
            </a:pPr>
            <a:r>
              <a:rPr lang="en-US" sz="1200">
                <a:solidFill>
                  <a:srgbClr val="2D231E"/>
                </a:solidFill>
                <a:latin typeface="Calibri"/>
              </a:rPr>
              <a:t>•  scipy: skewness and normality test</a:t>
            </a:r>
          </a:p>
          <a:p>
            <a:pPr>
              <a:spcBef>
                <a:spcPts val="150"/>
              </a:spcBef>
              <a:spcAft>
                <a:spcPts val="400"/>
              </a:spcAft>
            </a:pPr>
            <a:r>
              <a:rPr lang="en-US" sz="1200">
                <a:solidFill>
                  <a:srgbClr val="2D231E"/>
                </a:solidFill>
                <a:latin typeface="Calibri"/>
              </a:rPr>
              <a:t>•  matplotlib and seaborn: plots and heatmaps</a:t>
            </a:r>
          </a:p>
        </p:txBody>
      </p:sp>
      <p:sp>
        <p:nvSpPr>
          <p:cNvPr id="10" name="Rectangle 9"/>
          <p:cNvSpPr/>
          <p:nvPr/>
        </p:nvSpPr>
        <p:spPr>
          <a:xfrm>
            <a:off x="731520" y="4206240"/>
            <a:ext cx="5120640" cy="210312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315968"/>
            <a:ext cx="4663440" cy="320040"/>
          </a:xfrm>
          <a:prstGeom prst="rect">
            <a:avLst/>
          </a:prstGeom>
          <a:noFill/>
        </p:spPr>
        <p:txBody>
          <a:bodyPr wrap="square">
            <a:spAutoFit/>
          </a:bodyPr>
          <a:lstStyle/>
          <a:p>
            <a:pPr algn="l">
              <a:spcAft>
                <a:spcPts val="400"/>
              </a:spcAft>
            </a:pPr>
            <a:r>
              <a:rPr lang="en-US" sz="1300" b="1">
                <a:solidFill>
                  <a:srgbClr val="8B6F56"/>
                </a:solidFill>
                <a:latin typeface="Georgia"/>
              </a:rPr>
              <a:t>Execution Pipeline Stages</a:t>
            </a:r>
          </a:p>
        </p:txBody>
      </p:sp>
      <p:sp>
        <p:nvSpPr>
          <p:cNvPr id="12" name="Rectangle 11"/>
          <p:cNvSpPr/>
          <p:nvPr/>
        </p:nvSpPr>
        <p:spPr>
          <a:xfrm>
            <a:off x="960120" y="4645152"/>
            <a:ext cx="466344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4828032"/>
            <a:ext cx="4663440" cy="1481328"/>
          </a:xfrm>
          <a:prstGeom prst="rect">
            <a:avLst/>
          </a:prstGeom>
          <a:noFill/>
        </p:spPr>
        <p:txBody>
          <a:bodyPr wrap="square">
            <a:spAutoFit/>
          </a:bodyPr>
          <a:lstStyle/>
          <a:p>
            <a:pPr>
              <a:spcBef>
                <a:spcPts val="200"/>
              </a:spcBef>
              <a:spcAft>
                <a:spcPts val="300"/>
              </a:spcAft>
            </a:pPr>
            <a:r>
              <a:rPr lang="en-US" sz="1200" dirty="0">
                <a:solidFill>
                  <a:srgbClr val="2D231E"/>
                </a:solidFill>
                <a:latin typeface="Calibri"/>
              </a:rPr>
              <a:t>1. Load cloud.csv and define response time</a:t>
            </a:r>
          </a:p>
          <a:p>
            <a:pPr>
              <a:spcBef>
                <a:spcPts val="200"/>
              </a:spcBef>
              <a:spcAft>
                <a:spcPts val="300"/>
              </a:spcAft>
            </a:pPr>
            <a:r>
              <a:rPr lang="en-US" sz="1200" dirty="0">
                <a:solidFill>
                  <a:srgbClr val="2D231E"/>
                </a:solidFill>
                <a:latin typeface="Calibri"/>
              </a:rPr>
              <a:t>2. Clean: remove duplicates, IQR outlier check</a:t>
            </a:r>
          </a:p>
          <a:p>
            <a:pPr>
              <a:spcBef>
                <a:spcPts val="200"/>
              </a:spcBef>
              <a:spcAft>
                <a:spcPts val="300"/>
              </a:spcAft>
            </a:pPr>
            <a:r>
              <a:rPr lang="en-US" sz="1200" dirty="0">
                <a:solidFill>
                  <a:srgbClr val="2D231E"/>
                </a:solidFill>
                <a:latin typeface="Calibri"/>
              </a:rPr>
              <a:t>3. Model: scale features; fit simple, multiple, forest</a:t>
            </a:r>
          </a:p>
          <a:p>
            <a:pPr>
              <a:spcBef>
                <a:spcPts val="200"/>
              </a:spcBef>
              <a:spcAft>
                <a:spcPts val="300"/>
              </a:spcAft>
            </a:pPr>
            <a:r>
              <a:rPr lang="en-US" sz="1200" dirty="0">
                <a:solidFill>
                  <a:srgbClr val="2D231E"/>
                </a:solidFill>
                <a:latin typeface="Calibri"/>
              </a:rPr>
              <a:t>4. Evaluate: R², RMSE, MAE, t-tests, F-test</a:t>
            </a:r>
          </a:p>
          <a:p>
            <a:pPr>
              <a:spcBef>
                <a:spcPts val="200"/>
              </a:spcBef>
              <a:spcAft>
                <a:spcPts val="300"/>
              </a:spcAft>
            </a:pPr>
            <a:r>
              <a:rPr lang="en-US" sz="1200" dirty="0">
                <a:solidFill>
                  <a:srgbClr val="2D231E"/>
                </a:solidFill>
                <a:latin typeface="Calibri"/>
              </a:rPr>
              <a:t>5. Report: save plots and print all metrics</a:t>
            </a:r>
          </a:p>
        </p:txBody>
      </p:sp>
      <p:pic>
        <p:nvPicPr>
          <p:cNvPr id="14" name="Picture 13" descr="03_scatter_workload.png"/>
          <p:cNvPicPr>
            <a:picLocks noChangeAspect="1"/>
          </p:cNvPicPr>
          <p:nvPr/>
        </p:nvPicPr>
        <p:blipFill>
          <a:blip r:embed="rId3"/>
          <a:stretch>
            <a:fillRect/>
          </a:stretch>
        </p:blipFill>
        <p:spPr>
          <a:xfrm>
            <a:off x="6309360" y="1280160"/>
            <a:ext cx="5120640" cy="2286000"/>
          </a:xfrm>
          <a:prstGeom prst="rect">
            <a:avLst/>
          </a:prstGeom>
        </p:spPr>
      </p:pic>
      <p:pic>
        <p:nvPicPr>
          <p:cNvPr id="15" name="Picture 14" descr="01_response_time_distribution.png"/>
          <p:cNvPicPr>
            <a:picLocks noChangeAspect="1"/>
          </p:cNvPicPr>
          <p:nvPr/>
        </p:nvPicPr>
        <p:blipFill>
          <a:blip r:embed="rId4"/>
          <a:stretch>
            <a:fillRect/>
          </a:stretch>
        </p:blipFill>
        <p:spPr>
          <a:xfrm>
            <a:off x="6309360" y="3840480"/>
            <a:ext cx="5120640" cy="24688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11338560" y="6309360"/>
            <a:ext cx="731520" cy="365760"/>
          </a:xfrm>
          <a:prstGeom prst="rect">
            <a:avLst/>
          </a:prstGeom>
          <a:noFill/>
        </p:spPr>
        <p:txBody>
          <a:bodyPr wrap="square">
            <a:spAutoFit/>
          </a:bodyPr>
          <a:lstStyle/>
          <a:p>
            <a:pPr algn="r">
              <a:spcAft>
                <a:spcPts val="400"/>
              </a:spcAft>
            </a:pPr>
            <a:r>
              <a:rPr lang="en-US" sz="1100" b="0">
                <a:solidFill>
                  <a:srgbClr val="9C8976"/>
                </a:solidFill>
                <a:latin typeface="Georgia"/>
              </a:rPr>
              <a:t>07</a:t>
            </a:r>
          </a:p>
        </p:txBody>
      </p:sp>
      <p:sp>
        <p:nvSpPr>
          <p:cNvPr id="3" name="TextBox 2"/>
          <p:cNvSpPr txBox="1"/>
          <p:nvPr/>
        </p:nvSpPr>
        <p:spPr>
          <a:xfrm>
            <a:off x="731520" y="347472"/>
            <a:ext cx="8686800" cy="475488"/>
          </a:xfrm>
          <a:prstGeom prst="rect">
            <a:avLst/>
          </a:prstGeom>
          <a:noFill/>
        </p:spPr>
        <p:txBody>
          <a:bodyPr wrap="square">
            <a:spAutoFit/>
          </a:bodyPr>
          <a:lstStyle/>
          <a:p>
            <a:pPr algn="l">
              <a:spcAft>
                <a:spcPts val="400"/>
              </a:spcAft>
            </a:pPr>
            <a:r>
              <a:rPr lang="en-US" sz="2800" b="1">
                <a:solidFill>
                  <a:srgbClr val="2D231E"/>
                </a:solidFill>
                <a:latin typeface="Georgia"/>
              </a:rPr>
              <a:t>Python Code</a:t>
            </a:r>
          </a:p>
        </p:txBody>
      </p:sp>
      <p:sp>
        <p:nvSpPr>
          <p:cNvPr id="4" name="TextBox 3"/>
          <p:cNvSpPr txBox="1"/>
          <p:nvPr/>
        </p:nvSpPr>
        <p:spPr>
          <a:xfrm>
            <a:off x="731520" y="822960"/>
            <a:ext cx="8686800" cy="274320"/>
          </a:xfrm>
          <a:prstGeom prst="rect">
            <a:avLst/>
          </a:prstGeom>
          <a:noFill/>
        </p:spPr>
        <p:txBody>
          <a:bodyPr wrap="square">
            <a:spAutoFit/>
          </a:bodyPr>
          <a:lstStyle/>
          <a:p>
            <a:pPr algn="l">
              <a:spcAft>
                <a:spcPts val="400"/>
              </a:spcAft>
            </a:pPr>
            <a:r>
              <a:rPr lang="en-US" sz="1100" b="1">
                <a:solidFill>
                  <a:srgbClr val="6B5B4E"/>
                </a:solidFill>
                <a:latin typeface="Calibri"/>
              </a:rPr>
              <a:t>Core Script Snippets: Data Preprocessing, OLS Modeling &amp; Statistical Testing</a:t>
            </a:r>
          </a:p>
        </p:txBody>
      </p:sp>
      <p:sp>
        <p:nvSpPr>
          <p:cNvPr id="5" name="Rectangle 4"/>
          <p:cNvSpPr/>
          <p:nvPr/>
        </p:nvSpPr>
        <p:spPr>
          <a:xfrm>
            <a:off x="731520" y="1115568"/>
            <a:ext cx="2926080" cy="19050"/>
          </a:xfrm>
          <a:prstGeom prst="rect">
            <a:avLst/>
          </a:prstGeom>
          <a:solidFill>
            <a:srgbClr val="9C89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280160"/>
            <a:ext cx="3520440" cy="502920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371600"/>
            <a:ext cx="3154680" cy="320040"/>
          </a:xfrm>
          <a:prstGeom prst="rect">
            <a:avLst/>
          </a:prstGeom>
          <a:noFill/>
        </p:spPr>
        <p:txBody>
          <a:bodyPr wrap="square">
            <a:spAutoFit/>
          </a:bodyPr>
          <a:lstStyle/>
          <a:p>
            <a:pPr algn="l">
              <a:spcAft>
                <a:spcPts val="400"/>
              </a:spcAft>
            </a:pPr>
            <a:r>
              <a:rPr lang="en-US" sz="1200" b="1">
                <a:solidFill>
                  <a:srgbClr val="8B6F56"/>
                </a:solidFill>
                <a:latin typeface="Georgia"/>
              </a:rPr>
              <a:t>Data Loading &amp; Cleaning</a:t>
            </a:r>
          </a:p>
        </p:txBody>
      </p:sp>
      <p:sp>
        <p:nvSpPr>
          <p:cNvPr id="8" name="Rectangle 7"/>
          <p:cNvSpPr/>
          <p:nvPr/>
        </p:nvSpPr>
        <p:spPr>
          <a:xfrm>
            <a:off x="914400" y="1737360"/>
            <a:ext cx="315468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304288"/>
            <a:ext cx="3154680" cy="4206240"/>
          </a:xfrm>
          <a:prstGeom prst="rect">
            <a:avLst/>
          </a:prstGeom>
          <a:noFill/>
        </p:spPr>
        <p:txBody>
          <a:bodyPr wrap="square">
            <a:spAutoFit/>
          </a:bodyPr>
          <a:lstStyle/>
          <a:p>
            <a:pPr>
              <a:spcAft>
                <a:spcPts val="100"/>
              </a:spcAft>
            </a:pPr>
            <a:r>
              <a:rPr lang="en-US" sz="950" dirty="0">
                <a:solidFill>
                  <a:srgbClr val="2D231E"/>
                </a:solidFill>
                <a:latin typeface="Consolas"/>
              </a:rPr>
              <a:t># Load cloud telemetry dataset</a:t>
            </a:r>
          </a:p>
          <a:p>
            <a:pPr>
              <a:spcAft>
                <a:spcPts val="100"/>
              </a:spcAft>
            </a:pPr>
            <a:r>
              <a:rPr lang="en-US" sz="950" dirty="0" err="1">
                <a:solidFill>
                  <a:srgbClr val="2D231E"/>
                </a:solidFill>
                <a:latin typeface="Consolas"/>
              </a:rPr>
              <a:t>df</a:t>
            </a:r>
            <a:r>
              <a:rPr lang="en-US" sz="950" dirty="0">
                <a:solidFill>
                  <a:srgbClr val="2D231E"/>
                </a:solidFill>
                <a:latin typeface="Consolas"/>
              </a:rPr>
              <a:t> = </a:t>
            </a:r>
            <a:r>
              <a:rPr lang="en-US" sz="950" dirty="0" err="1">
                <a:solidFill>
                  <a:srgbClr val="2D231E"/>
                </a:solidFill>
                <a:latin typeface="Consolas"/>
              </a:rPr>
              <a:t>pd.read_csv</a:t>
            </a:r>
            <a:r>
              <a:rPr lang="en-US" sz="950" dirty="0">
                <a:solidFill>
                  <a:srgbClr val="2D231E"/>
                </a:solidFill>
                <a:latin typeface="Consolas"/>
              </a:rPr>
              <a:t>('cloud.csv')</a:t>
            </a:r>
          </a:p>
          <a:p>
            <a:pPr>
              <a:spcAft>
                <a:spcPts val="100"/>
              </a:spcAft>
            </a:pPr>
            <a:endParaRPr lang="en-US" sz="950" dirty="0">
              <a:solidFill>
                <a:srgbClr val="2D231E"/>
              </a:solidFill>
              <a:latin typeface="Consolas"/>
            </a:endParaRPr>
          </a:p>
          <a:p>
            <a:pPr>
              <a:spcAft>
                <a:spcPts val="100"/>
              </a:spcAft>
            </a:pPr>
            <a:r>
              <a:rPr lang="en-US" sz="950" dirty="0">
                <a:solidFill>
                  <a:srgbClr val="2D231E"/>
                </a:solidFill>
                <a:latin typeface="Consolas"/>
              </a:rPr>
              <a:t># Queueing model latency target</a:t>
            </a:r>
          </a:p>
          <a:p>
            <a:pPr>
              <a:spcAft>
                <a:spcPts val="100"/>
              </a:spcAft>
            </a:pPr>
            <a:r>
              <a:rPr lang="en-US" sz="950" dirty="0" err="1">
                <a:solidFill>
                  <a:srgbClr val="2D231E"/>
                </a:solidFill>
                <a:latin typeface="Consolas"/>
              </a:rPr>
              <a:t>df</a:t>
            </a:r>
            <a:r>
              <a:rPr lang="en-US" sz="950" dirty="0">
                <a:solidFill>
                  <a:srgbClr val="2D231E"/>
                </a:solidFill>
                <a:latin typeface="Consolas"/>
              </a:rPr>
              <a:t>['</a:t>
            </a:r>
            <a:r>
              <a:rPr lang="en-US" sz="950" dirty="0" err="1">
                <a:solidFill>
                  <a:srgbClr val="2D231E"/>
                </a:solidFill>
                <a:latin typeface="Consolas"/>
              </a:rPr>
              <a:t>Response_Time_ms</a:t>
            </a:r>
            <a:r>
              <a:rPr lang="en-US" sz="950" dirty="0">
                <a:solidFill>
                  <a:srgbClr val="2D231E"/>
                </a:solidFill>
                <a:latin typeface="Consolas"/>
              </a:rPr>
              <a:t>'] = (</a:t>
            </a:r>
          </a:p>
          <a:p>
            <a:pPr>
              <a:spcAft>
                <a:spcPts val="100"/>
              </a:spcAft>
            </a:pPr>
            <a:r>
              <a:rPr lang="en-US" sz="950" dirty="0">
                <a:solidFill>
                  <a:srgbClr val="2D231E"/>
                </a:solidFill>
                <a:latin typeface="Consolas"/>
              </a:rPr>
              <a:t>    </a:t>
            </a:r>
            <a:r>
              <a:rPr lang="en-US" sz="950" dirty="0" err="1">
                <a:solidFill>
                  <a:srgbClr val="2D231E"/>
                </a:solidFill>
                <a:latin typeface="Consolas"/>
              </a:rPr>
              <a:t>df</a:t>
            </a:r>
            <a:r>
              <a:rPr lang="en-US" sz="950" dirty="0">
                <a:solidFill>
                  <a:srgbClr val="2D231E"/>
                </a:solidFill>
                <a:latin typeface="Consolas"/>
              </a:rPr>
              <a:t>['</a:t>
            </a:r>
            <a:r>
              <a:rPr lang="en-US" sz="950" dirty="0" err="1">
                <a:solidFill>
                  <a:srgbClr val="2D231E"/>
                </a:solidFill>
                <a:latin typeface="Consolas"/>
              </a:rPr>
              <a:t>Task_Waiting_Time</a:t>
            </a:r>
            <a:r>
              <a:rPr lang="en-US" sz="950" dirty="0">
                <a:solidFill>
                  <a:srgbClr val="2D231E"/>
                </a:solidFill>
                <a:latin typeface="Consolas"/>
              </a:rPr>
              <a:t> (</a:t>
            </a:r>
            <a:r>
              <a:rPr lang="en-US" sz="950" dirty="0" err="1">
                <a:solidFill>
                  <a:srgbClr val="2D231E"/>
                </a:solidFill>
                <a:latin typeface="Consolas"/>
              </a:rPr>
              <a:t>ms</a:t>
            </a:r>
            <a:r>
              <a:rPr lang="en-US" sz="950" dirty="0">
                <a:solidFill>
                  <a:srgbClr val="2D231E"/>
                </a:solidFill>
                <a:latin typeface="Consolas"/>
              </a:rPr>
              <a:t>)'] +</a:t>
            </a:r>
          </a:p>
          <a:p>
            <a:pPr>
              <a:spcAft>
                <a:spcPts val="100"/>
              </a:spcAft>
            </a:pPr>
            <a:r>
              <a:rPr lang="en-US" sz="950" dirty="0">
                <a:solidFill>
                  <a:srgbClr val="2D231E"/>
                </a:solidFill>
                <a:latin typeface="Consolas"/>
              </a:rPr>
              <a:t>    </a:t>
            </a:r>
            <a:r>
              <a:rPr lang="en-US" sz="950" dirty="0" err="1">
                <a:solidFill>
                  <a:srgbClr val="2D231E"/>
                </a:solidFill>
                <a:latin typeface="Consolas"/>
              </a:rPr>
              <a:t>df</a:t>
            </a:r>
            <a:r>
              <a:rPr lang="en-US" sz="950" dirty="0">
                <a:solidFill>
                  <a:srgbClr val="2D231E"/>
                </a:solidFill>
                <a:latin typeface="Consolas"/>
              </a:rPr>
              <a:t>['</a:t>
            </a:r>
            <a:r>
              <a:rPr lang="en-US" sz="950" dirty="0" err="1">
                <a:solidFill>
                  <a:srgbClr val="2D231E"/>
                </a:solidFill>
                <a:latin typeface="Consolas"/>
              </a:rPr>
              <a:t>Task_Execution_Time</a:t>
            </a:r>
            <a:r>
              <a:rPr lang="en-US" sz="950" dirty="0">
                <a:solidFill>
                  <a:srgbClr val="2D231E"/>
                </a:solidFill>
                <a:latin typeface="Consolas"/>
              </a:rPr>
              <a:t> (</a:t>
            </a:r>
            <a:r>
              <a:rPr lang="en-US" sz="950" dirty="0" err="1">
                <a:solidFill>
                  <a:srgbClr val="2D231E"/>
                </a:solidFill>
                <a:latin typeface="Consolas"/>
              </a:rPr>
              <a:t>ms</a:t>
            </a:r>
            <a:r>
              <a:rPr lang="en-US" sz="950" dirty="0">
                <a:solidFill>
                  <a:srgbClr val="2D231E"/>
                </a:solidFill>
                <a:latin typeface="Consolas"/>
              </a:rPr>
              <a:t>)']</a:t>
            </a:r>
          </a:p>
          <a:p>
            <a:pPr>
              <a:spcAft>
                <a:spcPts val="100"/>
              </a:spcAft>
            </a:pPr>
            <a:r>
              <a:rPr lang="en-US" sz="950" dirty="0">
                <a:solidFill>
                  <a:srgbClr val="2D231E"/>
                </a:solidFill>
                <a:latin typeface="Consolas"/>
              </a:rPr>
              <a:t>)</a:t>
            </a:r>
          </a:p>
          <a:p>
            <a:pPr>
              <a:spcAft>
                <a:spcPts val="100"/>
              </a:spcAft>
            </a:pPr>
            <a:endParaRPr lang="en-US" sz="950" dirty="0">
              <a:solidFill>
                <a:srgbClr val="2D231E"/>
              </a:solidFill>
              <a:latin typeface="Consolas"/>
            </a:endParaRPr>
          </a:p>
          <a:p>
            <a:pPr>
              <a:spcAft>
                <a:spcPts val="100"/>
              </a:spcAft>
            </a:pPr>
            <a:r>
              <a:rPr lang="en-US" sz="950" dirty="0">
                <a:solidFill>
                  <a:srgbClr val="2D231E"/>
                </a:solidFill>
                <a:latin typeface="Consolas"/>
              </a:rPr>
              <a:t># Remove duplicates &amp; IQR outliers</a:t>
            </a:r>
          </a:p>
          <a:p>
            <a:pPr>
              <a:spcAft>
                <a:spcPts val="100"/>
              </a:spcAft>
            </a:pPr>
            <a:r>
              <a:rPr lang="en-US" sz="950" dirty="0" err="1">
                <a:solidFill>
                  <a:srgbClr val="2D231E"/>
                </a:solidFill>
                <a:latin typeface="Consolas"/>
              </a:rPr>
              <a:t>df</a:t>
            </a:r>
            <a:r>
              <a:rPr lang="en-US" sz="950" dirty="0">
                <a:solidFill>
                  <a:srgbClr val="2D231E"/>
                </a:solidFill>
                <a:latin typeface="Consolas"/>
              </a:rPr>
              <a:t> = </a:t>
            </a:r>
            <a:r>
              <a:rPr lang="en-US" sz="950" dirty="0" err="1">
                <a:solidFill>
                  <a:srgbClr val="2D231E"/>
                </a:solidFill>
                <a:latin typeface="Consolas"/>
              </a:rPr>
              <a:t>df.drop_duplicates</a:t>
            </a:r>
            <a:r>
              <a:rPr lang="en-US" sz="950" dirty="0">
                <a:solidFill>
                  <a:srgbClr val="2D231E"/>
                </a:solidFill>
                <a:latin typeface="Consolas"/>
              </a:rPr>
              <a:t>()</a:t>
            </a:r>
          </a:p>
          <a:p>
            <a:pPr>
              <a:spcAft>
                <a:spcPts val="100"/>
              </a:spcAft>
            </a:pPr>
            <a:r>
              <a:rPr lang="en-US" sz="950" dirty="0">
                <a:solidFill>
                  <a:srgbClr val="2D231E"/>
                </a:solidFill>
                <a:latin typeface="Consolas"/>
              </a:rPr>
              <a:t>q1, q3 = </a:t>
            </a:r>
            <a:r>
              <a:rPr lang="en-US" sz="950" dirty="0" err="1">
                <a:solidFill>
                  <a:srgbClr val="2D231E"/>
                </a:solidFill>
                <a:latin typeface="Consolas"/>
              </a:rPr>
              <a:t>df</a:t>
            </a:r>
            <a:r>
              <a:rPr lang="en-US" sz="950" dirty="0">
                <a:solidFill>
                  <a:srgbClr val="2D231E"/>
                </a:solidFill>
                <a:latin typeface="Consolas"/>
              </a:rPr>
              <a:t>[TARGET].quantile([.25,.75])</a:t>
            </a:r>
          </a:p>
          <a:p>
            <a:pPr>
              <a:spcAft>
                <a:spcPts val="100"/>
              </a:spcAft>
            </a:pPr>
            <a:r>
              <a:rPr lang="en-US" sz="950" dirty="0" err="1">
                <a:solidFill>
                  <a:srgbClr val="2D231E"/>
                </a:solidFill>
                <a:latin typeface="Consolas"/>
              </a:rPr>
              <a:t>iqr</a:t>
            </a:r>
            <a:r>
              <a:rPr lang="en-US" sz="950" dirty="0">
                <a:solidFill>
                  <a:srgbClr val="2D231E"/>
                </a:solidFill>
                <a:latin typeface="Consolas"/>
              </a:rPr>
              <a:t> = q3 - q1</a:t>
            </a:r>
          </a:p>
          <a:p>
            <a:pPr>
              <a:spcAft>
                <a:spcPts val="100"/>
              </a:spcAft>
            </a:pPr>
            <a:r>
              <a:rPr lang="en-US" sz="950" dirty="0" err="1">
                <a:solidFill>
                  <a:srgbClr val="2D231E"/>
                </a:solidFill>
                <a:latin typeface="Consolas"/>
              </a:rPr>
              <a:t>df</a:t>
            </a:r>
            <a:r>
              <a:rPr lang="en-US" sz="950" dirty="0">
                <a:solidFill>
                  <a:srgbClr val="2D231E"/>
                </a:solidFill>
                <a:latin typeface="Consolas"/>
              </a:rPr>
              <a:t> = </a:t>
            </a:r>
            <a:r>
              <a:rPr lang="en-US" sz="950" dirty="0" err="1">
                <a:solidFill>
                  <a:srgbClr val="2D231E"/>
                </a:solidFill>
                <a:latin typeface="Consolas"/>
              </a:rPr>
              <a:t>df</a:t>
            </a:r>
            <a:r>
              <a:rPr lang="en-US" sz="950" dirty="0">
                <a:solidFill>
                  <a:srgbClr val="2D231E"/>
                </a:solidFill>
                <a:latin typeface="Consolas"/>
              </a:rPr>
              <a:t>[(</a:t>
            </a:r>
            <a:r>
              <a:rPr lang="en-US" sz="950" dirty="0" err="1">
                <a:solidFill>
                  <a:srgbClr val="2D231E"/>
                </a:solidFill>
                <a:latin typeface="Consolas"/>
              </a:rPr>
              <a:t>df</a:t>
            </a:r>
            <a:r>
              <a:rPr lang="en-US" sz="950" dirty="0">
                <a:solidFill>
                  <a:srgbClr val="2D231E"/>
                </a:solidFill>
                <a:latin typeface="Consolas"/>
              </a:rPr>
              <a:t>[TARGET] &gt;= q1 - 1.5*</a:t>
            </a:r>
            <a:r>
              <a:rPr lang="en-US" sz="950" dirty="0" err="1">
                <a:solidFill>
                  <a:srgbClr val="2D231E"/>
                </a:solidFill>
                <a:latin typeface="Consolas"/>
              </a:rPr>
              <a:t>iqr</a:t>
            </a:r>
            <a:r>
              <a:rPr lang="en-US" sz="950" dirty="0">
                <a:solidFill>
                  <a:srgbClr val="2D231E"/>
                </a:solidFill>
                <a:latin typeface="Consolas"/>
              </a:rPr>
              <a:t>) &amp;</a:t>
            </a:r>
          </a:p>
          <a:p>
            <a:pPr>
              <a:spcAft>
                <a:spcPts val="100"/>
              </a:spcAft>
            </a:pPr>
            <a:r>
              <a:rPr lang="en-US" sz="950" dirty="0">
                <a:solidFill>
                  <a:srgbClr val="2D231E"/>
                </a:solidFill>
                <a:latin typeface="Consolas"/>
              </a:rPr>
              <a:t>        (</a:t>
            </a:r>
            <a:r>
              <a:rPr lang="en-US" sz="950" dirty="0" err="1">
                <a:solidFill>
                  <a:srgbClr val="2D231E"/>
                </a:solidFill>
                <a:latin typeface="Consolas"/>
              </a:rPr>
              <a:t>df</a:t>
            </a:r>
            <a:r>
              <a:rPr lang="en-US" sz="950" dirty="0">
                <a:solidFill>
                  <a:srgbClr val="2D231E"/>
                </a:solidFill>
                <a:latin typeface="Consolas"/>
              </a:rPr>
              <a:t>[TARGET] &lt;= q3 + 1.5*</a:t>
            </a:r>
            <a:r>
              <a:rPr lang="en-US" sz="950" dirty="0" err="1">
                <a:solidFill>
                  <a:srgbClr val="2D231E"/>
                </a:solidFill>
                <a:latin typeface="Consolas"/>
              </a:rPr>
              <a:t>iqr</a:t>
            </a:r>
            <a:r>
              <a:rPr lang="en-US" sz="950" dirty="0">
                <a:solidFill>
                  <a:srgbClr val="2D231E"/>
                </a:solidFill>
                <a:latin typeface="Consolas"/>
              </a:rPr>
              <a:t>)]</a:t>
            </a:r>
          </a:p>
        </p:txBody>
      </p:sp>
      <p:sp>
        <p:nvSpPr>
          <p:cNvPr id="10" name="Rectangle 9"/>
          <p:cNvSpPr/>
          <p:nvPr/>
        </p:nvSpPr>
        <p:spPr>
          <a:xfrm>
            <a:off x="4526280" y="1280160"/>
            <a:ext cx="3520440" cy="502920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9160" y="1371600"/>
            <a:ext cx="3154680" cy="320040"/>
          </a:xfrm>
          <a:prstGeom prst="rect">
            <a:avLst/>
          </a:prstGeom>
          <a:noFill/>
        </p:spPr>
        <p:txBody>
          <a:bodyPr wrap="square">
            <a:spAutoFit/>
          </a:bodyPr>
          <a:lstStyle/>
          <a:p>
            <a:pPr algn="l">
              <a:spcAft>
                <a:spcPts val="400"/>
              </a:spcAft>
            </a:pPr>
            <a:r>
              <a:rPr lang="en-US" sz="1200" b="1">
                <a:solidFill>
                  <a:srgbClr val="8B6F56"/>
                </a:solidFill>
                <a:latin typeface="Georgia"/>
              </a:rPr>
              <a:t>Model Training &amp; Pipeline</a:t>
            </a:r>
          </a:p>
        </p:txBody>
      </p:sp>
      <p:sp>
        <p:nvSpPr>
          <p:cNvPr id="12" name="Rectangle 11"/>
          <p:cNvSpPr/>
          <p:nvPr/>
        </p:nvSpPr>
        <p:spPr>
          <a:xfrm>
            <a:off x="4709160" y="1737360"/>
            <a:ext cx="315468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54880" y="2313431"/>
            <a:ext cx="3154680" cy="4206240"/>
          </a:xfrm>
          <a:prstGeom prst="rect">
            <a:avLst/>
          </a:prstGeom>
          <a:noFill/>
        </p:spPr>
        <p:txBody>
          <a:bodyPr wrap="square">
            <a:spAutoFit/>
          </a:bodyPr>
          <a:lstStyle/>
          <a:p>
            <a:pPr>
              <a:spcAft>
                <a:spcPts val="100"/>
              </a:spcAft>
            </a:pPr>
            <a:r>
              <a:rPr lang="en-US" sz="950" dirty="0">
                <a:solidFill>
                  <a:srgbClr val="2D231E"/>
                </a:solidFill>
                <a:latin typeface="Consolas"/>
              </a:rPr>
              <a:t>from </a:t>
            </a:r>
            <a:r>
              <a:rPr lang="en-US" sz="950" dirty="0" err="1">
                <a:solidFill>
                  <a:srgbClr val="2D231E"/>
                </a:solidFill>
                <a:latin typeface="Consolas"/>
              </a:rPr>
              <a:t>sklearn.linear_model</a:t>
            </a:r>
            <a:r>
              <a:rPr lang="en-US" sz="950" dirty="0">
                <a:solidFill>
                  <a:srgbClr val="2D231E"/>
                </a:solidFill>
                <a:latin typeface="Consolas"/>
              </a:rPr>
              <a:t> import \</a:t>
            </a:r>
          </a:p>
          <a:p>
            <a:pPr>
              <a:spcAft>
                <a:spcPts val="100"/>
              </a:spcAft>
            </a:pPr>
            <a:r>
              <a:rPr lang="en-US" sz="950" dirty="0">
                <a:solidFill>
                  <a:srgbClr val="2D231E"/>
                </a:solidFill>
                <a:latin typeface="Consolas"/>
              </a:rPr>
              <a:t>    </a:t>
            </a:r>
            <a:r>
              <a:rPr lang="en-US" sz="950" dirty="0" err="1">
                <a:solidFill>
                  <a:srgbClr val="2D231E"/>
                </a:solidFill>
                <a:latin typeface="Consolas"/>
              </a:rPr>
              <a:t>LinearRegression</a:t>
            </a:r>
            <a:endParaRPr lang="en-US" sz="950" dirty="0">
              <a:solidFill>
                <a:srgbClr val="2D231E"/>
              </a:solidFill>
              <a:latin typeface="Consolas"/>
            </a:endParaRPr>
          </a:p>
          <a:p>
            <a:pPr>
              <a:spcAft>
                <a:spcPts val="100"/>
              </a:spcAft>
            </a:pPr>
            <a:r>
              <a:rPr lang="en-US" sz="950" dirty="0">
                <a:solidFill>
                  <a:srgbClr val="2D231E"/>
                </a:solidFill>
                <a:latin typeface="Consolas"/>
              </a:rPr>
              <a:t>from </a:t>
            </a:r>
            <a:r>
              <a:rPr lang="en-US" sz="950" dirty="0" err="1">
                <a:solidFill>
                  <a:srgbClr val="2D231E"/>
                </a:solidFill>
                <a:latin typeface="Consolas"/>
              </a:rPr>
              <a:t>sklearn.preprocessing</a:t>
            </a:r>
            <a:r>
              <a:rPr lang="en-US" sz="950" dirty="0">
                <a:solidFill>
                  <a:srgbClr val="2D231E"/>
                </a:solidFill>
                <a:latin typeface="Consolas"/>
              </a:rPr>
              <a:t> import \</a:t>
            </a:r>
          </a:p>
          <a:p>
            <a:pPr>
              <a:spcAft>
                <a:spcPts val="100"/>
              </a:spcAft>
            </a:pPr>
            <a:r>
              <a:rPr lang="en-US" sz="950" dirty="0">
                <a:solidFill>
                  <a:srgbClr val="2D231E"/>
                </a:solidFill>
                <a:latin typeface="Consolas"/>
              </a:rPr>
              <a:t>    </a:t>
            </a:r>
            <a:r>
              <a:rPr lang="en-US" sz="950" dirty="0" err="1">
                <a:solidFill>
                  <a:srgbClr val="2D231E"/>
                </a:solidFill>
                <a:latin typeface="Consolas"/>
              </a:rPr>
              <a:t>StandardScaler</a:t>
            </a:r>
            <a:endParaRPr lang="en-US" sz="950" dirty="0">
              <a:solidFill>
                <a:srgbClr val="2D231E"/>
              </a:solidFill>
              <a:latin typeface="Consolas"/>
            </a:endParaRPr>
          </a:p>
          <a:p>
            <a:pPr>
              <a:spcAft>
                <a:spcPts val="100"/>
              </a:spcAft>
            </a:pPr>
            <a:r>
              <a:rPr lang="en-US" sz="950" dirty="0">
                <a:solidFill>
                  <a:srgbClr val="2D231E"/>
                </a:solidFill>
                <a:latin typeface="Consolas"/>
              </a:rPr>
              <a:t>from </a:t>
            </a:r>
            <a:r>
              <a:rPr lang="en-US" sz="950" dirty="0" err="1">
                <a:solidFill>
                  <a:srgbClr val="2D231E"/>
                </a:solidFill>
                <a:latin typeface="Consolas"/>
              </a:rPr>
              <a:t>sklearn.pipeline</a:t>
            </a:r>
            <a:r>
              <a:rPr lang="en-US" sz="950" dirty="0">
                <a:solidFill>
                  <a:srgbClr val="2D231E"/>
                </a:solidFill>
                <a:latin typeface="Consolas"/>
              </a:rPr>
              <a:t> import </a:t>
            </a:r>
            <a:r>
              <a:rPr lang="en-US" sz="950" dirty="0" err="1">
                <a:solidFill>
                  <a:srgbClr val="2D231E"/>
                </a:solidFill>
                <a:latin typeface="Consolas"/>
              </a:rPr>
              <a:t>make_pipeline</a:t>
            </a:r>
            <a:endParaRPr lang="en-US" sz="950" dirty="0">
              <a:solidFill>
                <a:srgbClr val="2D231E"/>
              </a:solidFill>
              <a:latin typeface="Consolas"/>
            </a:endParaRPr>
          </a:p>
          <a:p>
            <a:pPr>
              <a:spcAft>
                <a:spcPts val="100"/>
              </a:spcAft>
            </a:pPr>
            <a:endParaRPr lang="en-US" sz="950" dirty="0">
              <a:solidFill>
                <a:srgbClr val="2D231E"/>
              </a:solidFill>
              <a:latin typeface="Consolas"/>
            </a:endParaRPr>
          </a:p>
          <a:p>
            <a:pPr>
              <a:spcAft>
                <a:spcPts val="100"/>
              </a:spcAft>
            </a:pPr>
            <a:r>
              <a:rPr lang="en-US" sz="950" dirty="0">
                <a:solidFill>
                  <a:srgbClr val="2D231E"/>
                </a:solidFill>
                <a:latin typeface="Consolas"/>
              </a:rPr>
              <a:t># 80:20 Train-Test split</a:t>
            </a:r>
          </a:p>
          <a:p>
            <a:pPr>
              <a:spcAft>
                <a:spcPts val="100"/>
              </a:spcAft>
            </a:pPr>
            <a:r>
              <a:rPr lang="en-US" sz="950" dirty="0" err="1">
                <a:solidFill>
                  <a:srgbClr val="2D231E"/>
                </a:solidFill>
                <a:latin typeface="Consolas"/>
              </a:rPr>
              <a:t>X_train</a:t>
            </a:r>
            <a:r>
              <a:rPr lang="en-US" sz="950" dirty="0">
                <a:solidFill>
                  <a:srgbClr val="2D231E"/>
                </a:solidFill>
                <a:latin typeface="Consolas"/>
              </a:rPr>
              <a:t>, </a:t>
            </a:r>
            <a:r>
              <a:rPr lang="en-US" sz="950" dirty="0" err="1">
                <a:solidFill>
                  <a:srgbClr val="2D231E"/>
                </a:solidFill>
                <a:latin typeface="Consolas"/>
              </a:rPr>
              <a:t>X_test</a:t>
            </a:r>
            <a:r>
              <a:rPr lang="en-US" sz="950" dirty="0">
                <a:solidFill>
                  <a:srgbClr val="2D231E"/>
                </a:solidFill>
                <a:latin typeface="Consolas"/>
              </a:rPr>
              <a:t>, </a:t>
            </a:r>
            <a:r>
              <a:rPr lang="en-US" sz="950" dirty="0" err="1">
                <a:solidFill>
                  <a:srgbClr val="2D231E"/>
                </a:solidFill>
                <a:latin typeface="Consolas"/>
              </a:rPr>
              <a:t>y_train</a:t>
            </a:r>
            <a:r>
              <a:rPr lang="en-US" sz="950" dirty="0">
                <a:solidFill>
                  <a:srgbClr val="2D231E"/>
                </a:solidFill>
                <a:latin typeface="Consolas"/>
              </a:rPr>
              <a:t>, </a:t>
            </a:r>
            <a:r>
              <a:rPr lang="en-US" sz="950" dirty="0" err="1">
                <a:solidFill>
                  <a:srgbClr val="2D231E"/>
                </a:solidFill>
                <a:latin typeface="Consolas"/>
              </a:rPr>
              <a:t>y_test</a:t>
            </a:r>
            <a:r>
              <a:rPr lang="en-US" sz="950" dirty="0">
                <a:solidFill>
                  <a:srgbClr val="2D231E"/>
                </a:solidFill>
                <a:latin typeface="Consolas"/>
              </a:rPr>
              <a:t> = \</a:t>
            </a:r>
          </a:p>
          <a:p>
            <a:pPr>
              <a:spcAft>
                <a:spcPts val="100"/>
              </a:spcAft>
            </a:pPr>
            <a:r>
              <a:rPr lang="en-US" sz="950" dirty="0">
                <a:solidFill>
                  <a:srgbClr val="2D231E"/>
                </a:solidFill>
                <a:latin typeface="Consolas"/>
              </a:rPr>
              <a:t>    </a:t>
            </a:r>
            <a:r>
              <a:rPr lang="en-US" sz="950" dirty="0" err="1">
                <a:solidFill>
                  <a:srgbClr val="2D231E"/>
                </a:solidFill>
                <a:latin typeface="Consolas"/>
              </a:rPr>
              <a:t>train_test_split</a:t>
            </a:r>
            <a:r>
              <a:rPr lang="en-US" sz="950" dirty="0">
                <a:solidFill>
                  <a:srgbClr val="2D231E"/>
                </a:solidFill>
                <a:latin typeface="Consolas"/>
              </a:rPr>
              <a:t>(X, y, </a:t>
            </a:r>
            <a:r>
              <a:rPr lang="en-US" sz="950" dirty="0" err="1">
                <a:solidFill>
                  <a:srgbClr val="2D231E"/>
                </a:solidFill>
                <a:latin typeface="Consolas"/>
              </a:rPr>
              <a:t>test_size</a:t>
            </a:r>
            <a:r>
              <a:rPr lang="en-US" sz="950" dirty="0">
                <a:solidFill>
                  <a:srgbClr val="2D231E"/>
                </a:solidFill>
                <a:latin typeface="Consolas"/>
              </a:rPr>
              <a:t>=0.2)</a:t>
            </a:r>
          </a:p>
          <a:p>
            <a:pPr>
              <a:spcAft>
                <a:spcPts val="100"/>
              </a:spcAft>
            </a:pPr>
            <a:endParaRPr lang="en-US" sz="950" dirty="0">
              <a:solidFill>
                <a:srgbClr val="2D231E"/>
              </a:solidFill>
              <a:latin typeface="Consolas"/>
            </a:endParaRPr>
          </a:p>
          <a:p>
            <a:pPr>
              <a:spcAft>
                <a:spcPts val="100"/>
              </a:spcAft>
            </a:pPr>
            <a:r>
              <a:rPr lang="en-US" sz="950" dirty="0">
                <a:solidFill>
                  <a:srgbClr val="2D231E"/>
                </a:solidFill>
                <a:latin typeface="Consolas"/>
              </a:rPr>
              <a:t># OLS Regression Pipeline</a:t>
            </a:r>
          </a:p>
          <a:p>
            <a:pPr>
              <a:spcAft>
                <a:spcPts val="100"/>
              </a:spcAft>
            </a:pPr>
            <a:r>
              <a:rPr lang="en-US" sz="950" dirty="0">
                <a:solidFill>
                  <a:srgbClr val="2D231E"/>
                </a:solidFill>
                <a:latin typeface="Consolas"/>
              </a:rPr>
              <a:t>model = </a:t>
            </a:r>
            <a:r>
              <a:rPr lang="en-US" sz="950" dirty="0" err="1">
                <a:solidFill>
                  <a:srgbClr val="2D231E"/>
                </a:solidFill>
                <a:latin typeface="Consolas"/>
              </a:rPr>
              <a:t>make_pipeline</a:t>
            </a:r>
            <a:r>
              <a:rPr lang="en-US" sz="950" dirty="0">
                <a:solidFill>
                  <a:srgbClr val="2D231E"/>
                </a:solidFill>
                <a:latin typeface="Consolas"/>
              </a:rPr>
              <a:t>(</a:t>
            </a:r>
          </a:p>
          <a:p>
            <a:pPr>
              <a:spcAft>
                <a:spcPts val="100"/>
              </a:spcAft>
            </a:pPr>
            <a:r>
              <a:rPr lang="en-US" sz="950" dirty="0">
                <a:solidFill>
                  <a:srgbClr val="2D231E"/>
                </a:solidFill>
                <a:latin typeface="Consolas"/>
              </a:rPr>
              <a:t>    </a:t>
            </a:r>
            <a:r>
              <a:rPr lang="en-US" sz="950" dirty="0" err="1">
                <a:solidFill>
                  <a:srgbClr val="2D231E"/>
                </a:solidFill>
                <a:latin typeface="Consolas"/>
              </a:rPr>
              <a:t>StandardScaler</a:t>
            </a:r>
            <a:r>
              <a:rPr lang="en-US" sz="950" dirty="0">
                <a:solidFill>
                  <a:srgbClr val="2D231E"/>
                </a:solidFill>
                <a:latin typeface="Consolas"/>
              </a:rPr>
              <a:t>(),</a:t>
            </a:r>
          </a:p>
          <a:p>
            <a:pPr>
              <a:spcAft>
                <a:spcPts val="100"/>
              </a:spcAft>
            </a:pPr>
            <a:r>
              <a:rPr lang="en-US" sz="950" dirty="0">
                <a:solidFill>
                  <a:srgbClr val="2D231E"/>
                </a:solidFill>
                <a:latin typeface="Consolas"/>
              </a:rPr>
              <a:t>    </a:t>
            </a:r>
            <a:r>
              <a:rPr lang="en-US" sz="950" dirty="0" err="1">
                <a:solidFill>
                  <a:srgbClr val="2D231E"/>
                </a:solidFill>
                <a:latin typeface="Consolas"/>
              </a:rPr>
              <a:t>LinearRegression</a:t>
            </a:r>
            <a:r>
              <a:rPr lang="en-US" sz="950" dirty="0">
                <a:solidFill>
                  <a:srgbClr val="2D231E"/>
                </a:solidFill>
                <a:latin typeface="Consolas"/>
              </a:rPr>
              <a:t>()</a:t>
            </a:r>
          </a:p>
          <a:p>
            <a:pPr>
              <a:spcAft>
                <a:spcPts val="100"/>
              </a:spcAft>
            </a:pPr>
            <a:r>
              <a:rPr lang="en-US" sz="950" dirty="0">
                <a:solidFill>
                  <a:srgbClr val="2D231E"/>
                </a:solidFill>
                <a:latin typeface="Consolas"/>
              </a:rPr>
              <a:t>)</a:t>
            </a:r>
          </a:p>
          <a:p>
            <a:pPr>
              <a:spcAft>
                <a:spcPts val="100"/>
              </a:spcAft>
            </a:pPr>
            <a:r>
              <a:rPr lang="en-US" sz="950" dirty="0" err="1">
                <a:solidFill>
                  <a:srgbClr val="2D231E"/>
                </a:solidFill>
                <a:latin typeface="Consolas"/>
              </a:rPr>
              <a:t>model.fit</a:t>
            </a:r>
            <a:r>
              <a:rPr lang="en-US" sz="950" dirty="0">
                <a:solidFill>
                  <a:srgbClr val="2D231E"/>
                </a:solidFill>
                <a:latin typeface="Consolas"/>
              </a:rPr>
              <a:t>(</a:t>
            </a:r>
            <a:r>
              <a:rPr lang="en-US" sz="950" dirty="0" err="1">
                <a:solidFill>
                  <a:srgbClr val="2D231E"/>
                </a:solidFill>
                <a:latin typeface="Consolas"/>
              </a:rPr>
              <a:t>X_train</a:t>
            </a:r>
            <a:r>
              <a:rPr lang="en-US" sz="950" dirty="0">
                <a:solidFill>
                  <a:srgbClr val="2D231E"/>
                </a:solidFill>
                <a:latin typeface="Consolas"/>
              </a:rPr>
              <a:t>, </a:t>
            </a:r>
            <a:r>
              <a:rPr lang="en-US" sz="950" dirty="0" err="1">
                <a:solidFill>
                  <a:srgbClr val="2D231E"/>
                </a:solidFill>
                <a:latin typeface="Consolas"/>
              </a:rPr>
              <a:t>y_train</a:t>
            </a:r>
            <a:r>
              <a:rPr lang="en-US" sz="950" dirty="0">
                <a:solidFill>
                  <a:srgbClr val="2D231E"/>
                </a:solidFill>
                <a:latin typeface="Consolas"/>
              </a:rPr>
              <a:t>)</a:t>
            </a:r>
          </a:p>
          <a:p>
            <a:pPr>
              <a:spcAft>
                <a:spcPts val="100"/>
              </a:spcAft>
            </a:pPr>
            <a:r>
              <a:rPr lang="en-US" sz="950" dirty="0" err="1">
                <a:solidFill>
                  <a:srgbClr val="2D231E"/>
                </a:solidFill>
                <a:latin typeface="Consolas"/>
              </a:rPr>
              <a:t>y_pred</a:t>
            </a:r>
            <a:r>
              <a:rPr lang="en-US" sz="950" dirty="0">
                <a:solidFill>
                  <a:srgbClr val="2D231E"/>
                </a:solidFill>
                <a:latin typeface="Consolas"/>
              </a:rPr>
              <a:t> = </a:t>
            </a:r>
            <a:r>
              <a:rPr lang="en-US" sz="950" dirty="0" err="1">
                <a:solidFill>
                  <a:srgbClr val="2D231E"/>
                </a:solidFill>
                <a:latin typeface="Consolas"/>
              </a:rPr>
              <a:t>model.predict</a:t>
            </a:r>
            <a:r>
              <a:rPr lang="en-US" sz="950" dirty="0">
                <a:solidFill>
                  <a:srgbClr val="2D231E"/>
                </a:solidFill>
                <a:latin typeface="Consolas"/>
              </a:rPr>
              <a:t>(</a:t>
            </a:r>
            <a:r>
              <a:rPr lang="en-US" sz="950" dirty="0" err="1">
                <a:solidFill>
                  <a:srgbClr val="2D231E"/>
                </a:solidFill>
                <a:latin typeface="Consolas"/>
              </a:rPr>
              <a:t>X_test</a:t>
            </a:r>
            <a:r>
              <a:rPr lang="en-US" sz="950" dirty="0">
                <a:solidFill>
                  <a:srgbClr val="2D231E"/>
                </a:solidFill>
                <a:latin typeface="Consolas"/>
              </a:rPr>
              <a:t>)</a:t>
            </a:r>
          </a:p>
        </p:txBody>
      </p:sp>
      <p:sp>
        <p:nvSpPr>
          <p:cNvPr id="14" name="Rectangle 13"/>
          <p:cNvSpPr/>
          <p:nvPr/>
        </p:nvSpPr>
        <p:spPr>
          <a:xfrm>
            <a:off x="8321040" y="1280160"/>
            <a:ext cx="3520440" cy="502920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0" y="1371600"/>
            <a:ext cx="3154680" cy="320040"/>
          </a:xfrm>
          <a:prstGeom prst="rect">
            <a:avLst/>
          </a:prstGeom>
          <a:noFill/>
        </p:spPr>
        <p:txBody>
          <a:bodyPr wrap="square">
            <a:spAutoFit/>
          </a:bodyPr>
          <a:lstStyle/>
          <a:p>
            <a:pPr algn="l">
              <a:spcAft>
                <a:spcPts val="400"/>
              </a:spcAft>
            </a:pPr>
            <a:r>
              <a:rPr lang="en-US" sz="1200" b="1">
                <a:solidFill>
                  <a:srgbClr val="8B6F56"/>
                </a:solidFill>
                <a:latin typeface="Georgia"/>
              </a:rPr>
              <a:t>Statistical Inference (OLS)</a:t>
            </a:r>
          </a:p>
        </p:txBody>
      </p:sp>
      <p:sp>
        <p:nvSpPr>
          <p:cNvPr id="16" name="Rectangle 15"/>
          <p:cNvSpPr/>
          <p:nvPr/>
        </p:nvSpPr>
        <p:spPr>
          <a:xfrm>
            <a:off x="8503920" y="1737360"/>
            <a:ext cx="315468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20" y="2103120"/>
            <a:ext cx="3154680" cy="4206240"/>
          </a:xfrm>
          <a:prstGeom prst="rect">
            <a:avLst/>
          </a:prstGeom>
          <a:noFill/>
        </p:spPr>
        <p:txBody>
          <a:bodyPr wrap="square">
            <a:spAutoFit/>
          </a:bodyPr>
          <a:lstStyle/>
          <a:p>
            <a:pPr>
              <a:spcAft>
                <a:spcPts val="100"/>
              </a:spcAft>
            </a:pPr>
            <a:r>
              <a:rPr lang="en-US" sz="950" dirty="0">
                <a:solidFill>
                  <a:srgbClr val="2D231E"/>
                </a:solidFill>
                <a:latin typeface="Consolas"/>
              </a:rPr>
              <a:t>import </a:t>
            </a:r>
            <a:r>
              <a:rPr lang="en-US" sz="950" dirty="0" err="1">
                <a:solidFill>
                  <a:srgbClr val="2D231E"/>
                </a:solidFill>
                <a:latin typeface="Consolas"/>
              </a:rPr>
              <a:t>statsmodels.api</a:t>
            </a:r>
            <a:r>
              <a:rPr lang="en-US" sz="950" dirty="0">
                <a:solidFill>
                  <a:srgbClr val="2D231E"/>
                </a:solidFill>
                <a:latin typeface="Consolas"/>
              </a:rPr>
              <a:t> as </a:t>
            </a:r>
            <a:r>
              <a:rPr lang="en-US" sz="950" dirty="0" err="1">
                <a:solidFill>
                  <a:srgbClr val="2D231E"/>
                </a:solidFill>
                <a:latin typeface="Consolas"/>
              </a:rPr>
              <a:t>sm</a:t>
            </a:r>
            <a:endParaRPr lang="en-US" sz="950" dirty="0">
              <a:solidFill>
                <a:srgbClr val="2D231E"/>
              </a:solidFill>
              <a:latin typeface="Consolas"/>
            </a:endParaRPr>
          </a:p>
          <a:p>
            <a:pPr>
              <a:spcAft>
                <a:spcPts val="100"/>
              </a:spcAft>
            </a:pPr>
            <a:endParaRPr lang="en-US" sz="950" dirty="0">
              <a:solidFill>
                <a:srgbClr val="2D231E"/>
              </a:solidFill>
              <a:latin typeface="Consolas"/>
            </a:endParaRPr>
          </a:p>
          <a:p>
            <a:pPr>
              <a:spcAft>
                <a:spcPts val="100"/>
              </a:spcAft>
            </a:pPr>
            <a:r>
              <a:rPr lang="en-US" sz="950" dirty="0">
                <a:solidFill>
                  <a:srgbClr val="2D231E"/>
                </a:solidFill>
                <a:latin typeface="Consolas"/>
              </a:rPr>
              <a:t># Fit OLS with intercept column</a:t>
            </a:r>
          </a:p>
          <a:p>
            <a:pPr>
              <a:spcAft>
                <a:spcPts val="100"/>
              </a:spcAft>
            </a:pPr>
            <a:r>
              <a:rPr lang="en-US" sz="950" dirty="0" err="1">
                <a:solidFill>
                  <a:srgbClr val="2D231E"/>
                </a:solidFill>
                <a:latin typeface="Consolas"/>
              </a:rPr>
              <a:t>X_ols</a:t>
            </a:r>
            <a:r>
              <a:rPr lang="en-US" sz="950" dirty="0">
                <a:solidFill>
                  <a:srgbClr val="2D231E"/>
                </a:solidFill>
                <a:latin typeface="Consolas"/>
              </a:rPr>
              <a:t> = </a:t>
            </a:r>
            <a:r>
              <a:rPr lang="en-US" sz="950" dirty="0" err="1">
                <a:solidFill>
                  <a:srgbClr val="2D231E"/>
                </a:solidFill>
                <a:latin typeface="Consolas"/>
              </a:rPr>
              <a:t>sm.add_constant</a:t>
            </a:r>
            <a:r>
              <a:rPr lang="en-US" sz="950" dirty="0">
                <a:solidFill>
                  <a:srgbClr val="2D231E"/>
                </a:solidFill>
                <a:latin typeface="Consolas"/>
              </a:rPr>
              <a:t>(</a:t>
            </a:r>
            <a:r>
              <a:rPr lang="en-US" sz="950" dirty="0" err="1">
                <a:solidFill>
                  <a:srgbClr val="2D231E"/>
                </a:solidFill>
                <a:latin typeface="Consolas"/>
              </a:rPr>
              <a:t>X_train</a:t>
            </a:r>
            <a:r>
              <a:rPr lang="en-US" sz="950" dirty="0">
                <a:solidFill>
                  <a:srgbClr val="2D231E"/>
                </a:solidFill>
                <a:latin typeface="Consolas"/>
              </a:rPr>
              <a:t>)</a:t>
            </a:r>
          </a:p>
          <a:p>
            <a:pPr>
              <a:spcAft>
                <a:spcPts val="100"/>
              </a:spcAft>
            </a:pPr>
            <a:r>
              <a:rPr lang="en-US" sz="950" dirty="0" err="1">
                <a:solidFill>
                  <a:srgbClr val="2D231E"/>
                </a:solidFill>
                <a:latin typeface="Consolas"/>
              </a:rPr>
              <a:t>ols_model</a:t>
            </a:r>
            <a:r>
              <a:rPr lang="en-US" sz="950" dirty="0">
                <a:solidFill>
                  <a:srgbClr val="2D231E"/>
                </a:solidFill>
                <a:latin typeface="Consolas"/>
              </a:rPr>
              <a:t> = </a:t>
            </a:r>
            <a:r>
              <a:rPr lang="en-US" sz="950" dirty="0" err="1">
                <a:solidFill>
                  <a:srgbClr val="2D231E"/>
                </a:solidFill>
                <a:latin typeface="Consolas"/>
              </a:rPr>
              <a:t>sm.OLS</a:t>
            </a:r>
            <a:r>
              <a:rPr lang="en-US" sz="950" dirty="0">
                <a:solidFill>
                  <a:srgbClr val="2D231E"/>
                </a:solidFill>
                <a:latin typeface="Consolas"/>
              </a:rPr>
              <a:t>(</a:t>
            </a:r>
            <a:r>
              <a:rPr lang="en-US" sz="950" dirty="0" err="1">
                <a:solidFill>
                  <a:srgbClr val="2D231E"/>
                </a:solidFill>
                <a:latin typeface="Consolas"/>
              </a:rPr>
              <a:t>y_train</a:t>
            </a:r>
            <a:r>
              <a:rPr lang="en-US" sz="950" dirty="0">
                <a:solidFill>
                  <a:srgbClr val="2D231E"/>
                </a:solidFill>
                <a:latin typeface="Consolas"/>
              </a:rPr>
              <a:t>, </a:t>
            </a:r>
            <a:r>
              <a:rPr lang="en-US" sz="950" dirty="0" err="1">
                <a:solidFill>
                  <a:srgbClr val="2D231E"/>
                </a:solidFill>
                <a:latin typeface="Consolas"/>
              </a:rPr>
              <a:t>X_ols</a:t>
            </a:r>
            <a:r>
              <a:rPr lang="en-US" sz="950" dirty="0">
                <a:solidFill>
                  <a:srgbClr val="2D231E"/>
                </a:solidFill>
                <a:latin typeface="Consolas"/>
              </a:rPr>
              <a:t>).fit()</a:t>
            </a:r>
          </a:p>
          <a:p>
            <a:pPr>
              <a:spcAft>
                <a:spcPts val="100"/>
              </a:spcAft>
            </a:pPr>
            <a:endParaRPr lang="en-US" sz="950" dirty="0">
              <a:solidFill>
                <a:srgbClr val="2D231E"/>
              </a:solidFill>
              <a:latin typeface="Consolas"/>
            </a:endParaRPr>
          </a:p>
          <a:p>
            <a:pPr>
              <a:spcAft>
                <a:spcPts val="100"/>
              </a:spcAft>
            </a:pPr>
            <a:r>
              <a:rPr lang="en-US" sz="950" dirty="0">
                <a:solidFill>
                  <a:srgbClr val="2D231E"/>
                </a:solidFill>
                <a:latin typeface="Consolas"/>
              </a:rPr>
              <a:t># Hypothesis testing results</a:t>
            </a:r>
          </a:p>
          <a:p>
            <a:pPr>
              <a:spcAft>
                <a:spcPts val="100"/>
              </a:spcAft>
            </a:pPr>
            <a:r>
              <a:rPr lang="en-US" sz="950" dirty="0">
                <a:solidFill>
                  <a:srgbClr val="2D231E"/>
                </a:solidFill>
                <a:latin typeface="Consolas"/>
              </a:rPr>
              <a:t>print(</a:t>
            </a:r>
            <a:r>
              <a:rPr lang="en-US" sz="950" dirty="0" err="1">
                <a:solidFill>
                  <a:srgbClr val="2D231E"/>
                </a:solidFill>
                <a:latin typeface="Consolas"/>
              </a:rPr>
              <a:t>f'F</a:t>
            </a:r>
            <a:r>
              <a:rPr lang="en-US" sz="950" dirty="0">
                <a:solidFill>
                  <a:srgbClr val="2D231E"/>
                </a:solidFill>
                <a:latin typeface="Consolas"/>
              </a:rPr>
              <a:t>-stat: {ols_model.fvalue:.2f}')</a:t>
            </a:r>
          </a:p>
          <a:p>
            <a:pPr>
              <a:spcAft>
                <a:spcPts val="100"/>
              </a:spcAft>
            </a:pPr>
            <a:r>
              <a:rPr lang="en-US" sz="950" dirty="0">
                <a:solidFill>
                  <a:srgbClr val="2D231E"/>
                </a:solidFill>
                <a:latin typeface="Consolas"/>
              </a:rPr>
              <a:t>print(</a:t>
            </a:r>
            <a:r>
              <a:rPr lang="en-US" sz="950" dirty="0" err="1">
                <a:solidFill>
                  <a:srgbClr val="2D231E"/>
                </a:solidFill>
                <a:latin typeface="Consolas"/>
              </a:rPr>
              <a:t>f'p</a:t>
            </a:r>
            <a:r>
              <a:rPr lang="en-US" sz="950" dirty="0">
                <a:solidFill>
                  <a:srgbClr val="2D231E"/>
                </a:solidFill>
                <a:latin typeface="Consolas"/>
              </a:rPr>
              <a:t>-value: {ols_model.f_pvalue:.4g}')</a:t>
            </a:r>
          </a:p>
          <a:p>
            <a:pPr>
              <a:spcAft>
                <a:spcPts val="100"/>
              </a:spcAft>
            </a:pPr>
            <a:r>
              <a:rPr lang="en-US" sz="950" dirty="0">
                <a:solidFill>
                  <a:srgbClr val="2D231E"/>
                </a:solidFill>
                <a:latin typeface="Consolas"/>
              </a:rPr>
              <a:t>print(</a:t>
            </a:r>
            <a:r>
              <a:rPr lang="en-US" sz="950" dirty="0" err="1">
                <a:solidFill>
                  <a:srgbClr val="2D231E"/>
                </a:solidFill>
                <a:latin typeface="Consolas"/>
              </a:rPr>
              <a:t>f'R</a:t>
            </a:r>
            <a:r>
              <a:rPr lang="en-US" sz="950" dirty="0">
                <a:solidFill>
                  <a:srgbClr val="2D231E"/>
                </a:solidFill>
                <a:latin typeface="Consolas"/>
              </a:rPr>
              <a:t>-squared: {ols_model.rsquared:.4f}')</a:t>
            </a:r>
          </a:p>
          <a:p>
            <a:pPr>
              <a:spcAft>
                <a:spcPts val="100"/>
              </a:spcAft>
            </a:pPr>
            <a:endParaRPr lang="en-US" sz="950" dirty="0">
              <a:solidFill>
                <a:srgbClr val="2D231E"/>
              </a:solidFill>
              <a:latin typeface="Consolas"/>
            </a:endParaRPr>
          </a:p>
          <a:p>
            <a:pPr>
              <a:spcAft>
                <a:spcPts val="100"/>
              </a:spcAft>
            </a:pPr>
            <a:r>
              <a:rPr lang="en-US" sz="950" dirty="0">
                <a:solidFill>
                  <a:srgbClr val="2D231E"/>
                </a:solidFill>
                <a:latin typeface="Consolas"/>
              </a:rPr>
              <a:t># Goodness of fit metrics</a:t>
            </a:r>
          </a:p>
          <a:p>
            <a:pPr>
              <a:spcAft>
                <a:spcPts val="100"/>
              </a:spcAft>
            </a:pPr>
            <a:r>
              <a:rPr lang="en-US" sz="950" dirty="0">
                <a:solidFill>
                  <a:srgbClr val="2D231E"/>
                </a:solidFill>
                <a:latin typeface="Consolas"/>
              </a:rPr>
              <a:t>r2 = r2_score(</a:t>
            </a:r>
            <a:r>
              <a:rPr lang="en-US" sz="950" dirty="0" err="1">
                <a:solidFill>
                  <a:srgbClr val="2D231E"/>
                </a:solidFill>
                <a:latin typeface="Consolas"/>
              </a:rPr>
              <a:t>y_test</a:t>
            </a:r>
            <a:r>
              <a:rPr lang="en-US" sz="950" dirty="0">
                <a:solidFill>
                  <a:srgbClr val="2D231E"/>
                </a:solidFill>
                <a:latin typeface="Consolas"/>
              </a:rPr>
              <a:t>, </a:t>
            </a:r>
            <a:r>
              <a:rPr lang="en-US" sz="950" dirty="0" err="1">
                <a:solidFill>
                  <a:srgbClr val="2D231E"/>
                </a:solidFill>
                <a:latin typeface="Consolas"/>
              </a:rPr>
              <a:t>y_pred</a:t>
            </a:r>
            <a:r>
              <a:rPr lang="en-US" sz="950" dirty="0">
                <a:solidFill>
                  <a:srgbClr val="2D231E"/>
                </a:solidFill>
                <a:latin typeface="Consolas"/>
              </a:rPr>
              <a:t>)</a:t>
            </a:r>
          </a:p>
          <a:p>
            <a:pPr>
              <a:spcAft>
                <a:spcPts val="100"/>
              </a:spcAft>
            </a:pPr>
            <a:r>
              <a:rPr lang="en-US" sz="950" dirty="0" err="1">
                <a:solidFill>
                  <a:srgbClr val="2D231E"/>
                </a:solidFill>
                <a:latin typeface="Consolas"/>
              </a:rPr>
              <a:t>rmse</a:t>
            </a:r>
            <a:r>
              <a:rPr lang="en-US" sz="950" dirty="0">
                <a:solidFill>
                  <a:srgbClr val="2D231E"/>
                </a:solidFill>
                <a:latin typeface="Consolas"/>
              </a:rPr>
              <a:t> = </a:t>
            </a:r>
            <a:r>
              <a:rPr lang="en-US" sz="950" dirty="0" err="1">
                <a:solidFill>
                  <a:srgbClr val="2D231E"/>
                </a:solidFill>
                <a:latin typeface="Consolas"/>
              </a:rPr>
              <a:t>np.sqrt</a:t>
            </a:r>
            <a:r>
              <a:rPr lang="en-US" sz="950" dirty="0">
                <a:solidFill>
                  <a:srgbClr val="2D231E"/>
                </a:solidFill>
                <a:latin typeface="Consolas"/>
              </a:rPr>
              <a:t>(</a:t>
            </a:r>
            <a:r>
              <a:rPr lang="en-US" sz="950" dirty="0" err="1">
                <a:solidFill>
                  <a:srgbClr val="2D231E"/>
                </a:solidFill>
                <a:latin typeface="Consolas"/>
              </a:rPr>
              <a:t>mean_squared_error</a:t>
            </a:r>
            <a:r>
              <a:rPr lang="en-US" sz="950" dirty="0">
                <a:solidFill>
                  <a:srgbClr val="2D231E"/>
                </a:solidFill>
                <a:latin typeface="Consolas"/>
              </a:rPr>
              <a:t>(</a:t>
            </a:r>
          </a:p>
          <a:p>
            <a:pPr>
              <a:spcAft>
                <a:spcPts val="100"/>
              </a:spcAft>
            </a:pPr>
            <a:r>
              <a:rPr lang="en-US" sz="950" dirty="0">
                <a:solidFill>
                  <a:srgbClr val="2D231E"/>
                </a:solidFill>
                <a:latin typeface="Consolas"/>
              </a:rPr>
              <a:t>    </a:t>
            </a:r>
            <a:r>
              <a:rPr lang="en-US" sz="950" dirty="0" err="1">
                <a:solidFill>
                  <a:srgbClr val="2D231E"/>
                </a:solidFill>
                <a:latin typeface="Consolas"/>
              </a:rPr>
              <a:t>y_test</a:t>
            </a:r>
            <a:r>
              <a:rPr lang="en-US" sz="950" dirty="0">
                <a:solidFill>
                  <a:srgbClr val="2D231E"/>
                </a:solidFill>
                <a:latin typeface="Consolas"/>
              </a:rPr>
              <a:t>, </a:t>
            </a:r>
            <a:r>
              <a:rPr lang="en-US" sz="950" dirty="0" err="1">
                <a:solidFill>
                  <a:srgbClr val="2D231E"/>
                </a:solidFill>
                <a:latin typeface="Consolas"/>
              </a:rPr>
              <a:t>y_pred</a:t>
            </a:r>
            <a:r>
              <a:rPr lang="en-US" sz="950" dirty="0">
                <a:solidFill>
                  <a:srgbClr val="2D231E"/>
                </a:solidFill>
                <a:latin typeface="Consolas"/>
              </a:rPr>
              <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11338560" y="6309360"/>
            <a:ext cx="731520" cy="365760"/>
          </a:xfrm>
          <a:prstGeom prst="rect">
            <a:avLst/>
          </a:prstGeom>
          <a:noFill/>
        </p:spPr>
        <p:txBody>
          <a:bodyPr wrap="square">
            <a:spAutoFit/>
          </a:bodyPr>
          <a:lstStyle/>
          <a:p>
            <a:pPr algn="r">
              <a:spcAft>
                <a:spcPts val="400"/>
              </a:spcAft>
            </a:pPr>
            <a:r>
              <a:rPr lang="en-US" sz="1100" b="0">
                <a:solidFill>
                  <a:srgbClr val="9C8976"/>
                </a:solidFill>
                <a:latin typeface="Georgia"/>
              </a:rPr>
              <a:t>08</a:t>
            </a:r>
          </a:p>
        </p:txBody>
      </p:sp>
      <p:sp>
        <p:nvSpPr>
          <p:cNvPr id="3" name="TextBox 2"/>
          <p:cNvSpPr txBox="1"/>
          <p:nvPr/>
        </p:nvSpPr>
        <p:spPr>
          <a:xfrm>
            <a:off x="731520" y="347472"/>
            <a:ext cx="8686800" cy="475488"/>
          </a:xfrm>
          <a:prstGeom prst="rect">
            <a:avLst/>
          </a:prstGeom>
          <a:noFill/>
        </p:spPr>
        <p:txBody>
          <a:bodyPr wrap="square">
            <a:spAutoFit/>
          </a:bodyPr>
          <a:lstStyle/>
          <a:p>
            <a:pPr algn="l">
              <a:spcAft>
                <a:spcPts val="400"/>
              </a:spcAft>
            </a:pPr>
            <a:r>
              <a:rPr lang="en-US" sz="2800" b="1">
                <a:solidFill>
                  <a:srgbClr val="2D231E"/>
                </a:solidFill>
                <a:latin typeface="Georgia"/>
              </a:rPr>
              <a:t>Results &amp; Interpretation</a:t>
            </a:r>
          </a:p>
        </p:txBody>
      </p:sp>
      <p:sp>
        <p:nvSpPr>
          <p:cNvPr id="4" name="TextBox 3"/>
          <p:cNvSpPr txBox="1"/>
          <p:nvPr/>
        </p:nvSpPr>
        <p:spPr>
          <a:xfrm>
            <a:off x="731520" y="822960"/>
            <a:ext cx="8686800" cy="274320"/>
          </a:xfrm>
          <a:prstGeom prst="rect">
            <a:avLst/>
          </a:prstGeom>
          <a:noFill/>
        </p:spPr>
        <p:txBody>
          <a:bodyPr wrap="square">
            <a:spAutoFit/>
          </a:bodyPr>
          <a:lstStyle/>
          <a:p>
            <a:pPr algn="l">
              <a:spcAft>
                <a:spcPts val="400"/>
              </a:spcAft>
            </a:pPr>
            <a:r>
              <a:rPr lang="en-US" sz="1100" b="1">
                <a:solidFill>
                  <a:srgbClr val="6B5B4E"/>
                </a:solidFill>
                <a:latin typeface="Calibri"/>
              </a:rPr>
              <a:t>Model Benchmark Comparison, Goodness-of-Fit &amp; Statistical Findings</a:t>
            </a:r>
          </a:p>
        </p:txBody>
      </p:sp>
      <p:sp>
        <p:nvSpPr>
          <p:cNvPr id="5" name="Rectangle 4"/>
          <p:cNvSpPr/>
          <p:nvPr/>
        </p:nvSpPr>
        <p:spPr>
          <a:xfrm>
            <a:off x="731520" y="1115568"/>
            <a:ext cx="2926080" cy="19050"/>
          </a:xfrm>
          <a:prstGeom prst="rect">
            <a:avLst/>
          </a:prstGeom>
          <a:solidFill>
            <a:srgbClr val="9C89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80160"/>
            <a:ext cx="5486400" cy="283464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389888"/>
            <a:ext cx="5029200" cy="320040"/>
          </a:xfrm>
          <a:prstGeom prst="rect">
            <a:avLst/>
          </a:prstGeom>
          <a:noFill/>
        </p:spPr>
        <p:txBody>
          <a:bodyPr wrap="square">
            <a:spAutoFit/>
          </a:bodyPr>
          <a:lstStyle/>
          <a:p>
            <a:pPr algn="l">
              <a:spcAft>
                <a:spcPts val="400"/>
              </a:spcAft>
            </a:pPr>
            <a:r>
              <a:rPr lang="en-US" sz="1300" b="1">
                <a:solidFill>
                  <a:srgbClr val="8B6F56"/>
                </a:solidFill>
                <a:latin typeface="Georgia"/>
              </a:rPr>
              <a:t>Comparative Model Evaluation</a:t>
            </a:r>
          </a:p>
        </p:txBody>
      </p:sp>
      <p:sp>
        <p:nvSpPr>
          <p:cNvPr id="8" name="Rectangle 7"/>
          <p:cNvSpPr/>
          <p:nvPr/>
        </p:nvSpPr>
        <p:spPr>
          <a:xfrm>
            <a:off x="960120" y="1719072"/>
            <a:ext cx="502920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783080"/>
            <a:ext cx="5029200" cy="2212848"/>
          </a:xfrm>
          <a:prstGeom prst="rect">
            <a:avLst/>
          </a:prstGeom>
          <a:noFill/>
        </p:spPr>
        <p:txBody>
          <a:bodyPr wrap="square">
            <a:spAutoFit/>
          </a:bodyPr>
          <a:lstStyle/>
          <a:p>
            <a:pPr>
              <a:spcBef>
                <a:spcPts val="150"/>
              </a:spcBef>
              <a:spcAft>
                <a:spcPts val="400"/>
              </a:spcAft>
            </a:pPr>
            <a:r>
              <a:rPr lang="en-US" sz="1200">
                <a:solidFill>
                  <a:srgbClr val="2D231E"/>
                </a:solidFill>
                <a:latin typeface="Calibri"/>
              </a:rPr>
              <a:t>•  Scenario A: workload only</a:t>
            </a:r>
          </a:p>
          <a:p>
            <a:pPr>
              <a:spcBef>
                <a:spcPts val="100"/>
              </a:spcBef>
              <a:spcAft>
                <a:spcPts val="250"/>
              </a:spcAft>
            </a:pPr>
            <a:r>
              <a:rPr lang="en-US" sz="1200">
                <a:solidFill>
                  <a:srgbClr val="2D231E"/>
                </a:solidFill>
                <a:latin typeface="Calibri"/>
              </a:rPr>
              <a:t>    →  R² = 0.002  |  RMSE 1453.9 ms  |  MAE 1248.4 ms</a:t>
            </a:r>
          </a:p>
          <a:p>
            <a:pPr>
              <a:spcBef>
                <a:spcPts val="100"/>
              </a:spcBef>
              <a:spcAft>
                <a:spcPts val="250"/>
              </a:spcAft>
            </a:pPr>
            <a:r>
              <a:rPr lang="en-US" sz="1200">
                <a:solidFill>
                  <a:srgbClr val="2D231E"/>
                </a:solidFill>
                <a:latin typeface="Calibri"/>
              </a:rPr>
              <a:t>    →  5-fold CV R² = −0.002 ± 0.004</a:t>
            </a:r>
          </a:p>
          <a:p>
            <a:pPr>
              <a:spcBef>
                <a:spcPts val="900"/>
              </a:spcBef>
              <a:spcAft>
                <a:spcPts val="400"/>
              </a:spcAft>
            </a:pPr>
            <a:r>
              <a:rPr lang="en-US" sz="1200">
                <a:solidFill>
                  <a:srgbClr val="2D231E"/>
                </a:solidFill>
                <a:latin typeface="Calibri"/>
              </a:rPr>
              <a:t>•  Scenario B: + predicted duration</a:t>
            </a:r>
          </a:p>
          <a:p>
            <a:pPr>
              <a:spcBef>
                <a:spcPts val="100"/>
              </a:spcBef>
              <a:spcAft>
                <a:spcPts val="250"/>
              </a:spcAft>
            </a:pPr>
            <a:r>
              <a:rPr lang="en-US" sz="1200">
                <a:solidFill>
                  <a:srgbClr val="2D231E"/>
                </a:solidFill>
                <a:latin typeface="Calibri"/>
              </a:rPr>
              <a:t>    →  R² = 0.944  |  RMSE 344.6 ms  |  MAE 287.5 ms</a:t>
            </a:r>
          </a:p>
          <a:p>
            <a:pPr>
              <a:spcBef>
                <a:spcPts val="100"/>
              </a:spcBef>
              <a:spcAft>
                <a:spcPts val="250"/>
              </a:spcAft>
            </a:pPr>
            <a:r>
              <a:rPr lang="en-US" sz="1200">
                <a:solidFill>
                  <a:srgbClr val="2D231E"/>
                </a:solidFill>
                <a:latin typeface="Calibri"/>
              </a:rPr>
              <a:t>    →  5-fold CV R² = 0.946 ± 0.003</a:t>
            </a:r>
          </a:p>
          <a:p>
            <a:pPr>
              <a:spcBef>
                <a:spcPts val="900"/>
              </a:spcBef>
              <a:spcAft>
                <a:spcPts val="400"/>
              </a:spcAft>
            </a:pPr>
            <a:r>
              <a:rPr lang="en-US" sz="1200">
                <a:solidFill>
                  <a:srgbClr val="2D231E"/>
                </a:solidFill>
                <a:latin typeface="Calibri"/>
              </a:rPr>
              <a:t>•  Random forest benchmark</a:t>
            </a:r>
          </a:p>
          <a:p>
            <a:pPr>
              <a:spcBef>
                <a:spcPts val="100"/>
              </a:spcBef>
              <a:spcAft>
                <a:spcPts val="250"/>
              </a:spcAft>
            </a:pPr>
            <a:r>
              <a:rPr lang="en-US" sz="1200">
                <a:solidFill>
                  <a:srgbClr val="2D231E"/>
                </a:solidFill>
                <a:latin typeface="Calibri"/>
              </a:rPr>
              <a:t>    →  A: R² = −0.037   |   B: R² = 0.942</a:t>
            </a:r>
          </a:p>
        </p:txBody>
      </p:sp>
      <p:sp>
        <p:nvSpPr>
          <p:cNvPr id="10" name="Rectangle 9"/>
          <p:cNvSpPr/>
          <p:nvPr/>
        </p:nvSpPr>
        <p:spPr>
          <a:xfrm>
            <a:off x="731520" y="4297680"/>
            <a:ext cx="5486400" cy="201168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407408"/>
            <a:ext cx="5029200" cy="320040"/>
          </a:xfrm>
          <a:prstGeom prst="rect">
            <a:avLst/>
          </a:prstGeom>
          <a:noFill/>
        </p:spPr>
        <p:txBody>
          <a:bodyPr wrap="square">
            <a:spAutoFit/>
          </a:bodyPr>
          <a:lstStyle/>
          <a:p>
            <a:pPr algn="l">
              <a:spcAft>
                <a:spcPts val="400"/>
              </a:spcAft>
            </a:pPr>
            <a:r>
              <a:rPr lang="en-US" sz="1300" b="1">
                <a:solidFill>
                  <a:srgbClr val="8B6F56"/>
                </a:solidFill>
                <a:latin typeface="Georgia"/>
              </a:rPr>
              <a:t>Key Inferential Findings</a:t>
            </a:r>
          </a:p>
        </p:txBody>
      </p:sp>
      <p:sp>
        <p:nvSpPr>
          <p:cNvPr id="12" name="Rectangle 11"/>
          <p:cNvSpPr/>
          <p:nvPr/>
        </p:nvSpPr>
        <p:spPr>
          <a:xfrm>
            <a:off x="960120" y="4736592"/>
            <a:ext cx="502920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4800600"/>
            <a:ext cx="5029200" cy="1389888"/>
          </a:xfrm>
          <a:prstGeom prst="rect">
            <a:avLst/>
          </a:prstGeom>
          <a:noFill/>
        </p:spPr>
        <p:txBody>
          <a:bodyPr wrap="square">
            <a:spAutoFit/>
          </a:bodyPr>
          <a:lstStyle/>
          <a:p>
            <a:pPr>
              <a:spcBef>
                <a:spcPts val="150"/>
              </a:spcBef>
              <a:spcAft>
                <a:spcPts val="400"/>
              </a:spcAft>
            </a:pPr>
            <a:r>
              <a:rPr lang="en-US" sz="1300">
                <a:solidFill>
                  <a:srgbClr val="2D231E"/>
                </a:solidFill>
                <a:latin typeface="Calibri"/>
              </a:rPr>
              <a:t>•  Workload alone: F-test p = 0.57, no significant effect</a:t>
            </a:r>
          </a:p>
          <a:p>
            <a:pPr>
              <a:spcBef>
                <a:spcPts val="150"/>
              </a:spcBef>
              <a:spcAft>
                <a:spcPts val="400"/>
              </a:spcAft>
            </a:pPr>
            <a:r>
              <a:rPr lang="en-US" sz="1300">
                <a:solidFill>
                  <a:srgbClr val="2D231E"/>
                </a:solidFill>
                <a:latin typeface="Calibri"/>
              </a:rPr>
              <a:t>•  Predicted duration is the only significant predictor</a:t>
            </a:r>
          </a:p>
          <a:p>
            <a:pPr>
              <a:spcBef>
                <a:spcPts val="150"/>
              </a:spcBef>
              <a:spcAft>
                <a:spcPts val="400"/>
              </a:spcAft>
            </a:pPr>
            <a:r>
              <a:rPr lang="en-US" sz="1300">
                <a:solidFill>
                  <a:srgbClr val="2D231E"/>
                </a:solidFill>
                <a:latin typeface="Calibri"/>
              </a:rPr>
              <a:t>•  High R² is not cause: duration is almost the response time (r = 0.97)</a:t>
            </a:r>
          </a:p>
        </p:txBody>
      </p:sp>
      <p:pic>
        <p:nvPicPr>
          <p:cNvPr id="16" name="Picture 15" descr="Actual versus predicted response time. Left, Scenario A: predictions form a flat band near the mean. Right, Scenario B: points follow the perfect-prediction line."/>
          <p:cNvPicPr>
            <a:picLocks noChangeAspect="1"/>
          </p:cNvPicPr>
          <p:nvPr/>
        </p:nvPicPr>
        <p:blipFill>
          <a:blip r:embed="rId3"/>
          <a:stretch>
            <a:fillRect/>
          </a:stretch>
        </p:blipFill>
        <p:spPr>
          <a:xfrm>
            <a:off x="6675120" y="1303020"/>
            <a:ext cx="4846320" cy="2423160"/>
          </a:xfrm>
          <a:prstGeom prst="rect">
            <a:avLst/>
          </a:prstGeom>
        </p:spPr>
      </p:pic>
      <p:pic>
        <p:nvPicPr>
          <p:cNvPr id="17" name="Picture 16" descr="Bar chart of Pearson correlation with response time: predicted execution duration 0.973, all workload parameters near zero."/>
          <p:cNvPicPr>
            <a:picLocks noChangeAspect="1"/>
          </p:cNvPicPr>
          <p:nvPr/>
        </p:nvPicPr>
        <p:blipFill>
          <a:blip r:embed="rId4"/>
          <a:stretch>
            <a:fillRect/>
          </a:stretch>
        </p:blipFill>
        <p:spPr>
          <a:xfrm>
            <a:off x="6675120" y="3931920"/>
            <a:ext cx="4846320" cy="237744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11338560" y="6309360"/>
            <a:ext cx="731520" cy="365760"/>
          </a:xfrm>
          <a:prstGeom prst="rect">
            <a:avLst/>
          </a:prstGeom>
          <a:noFill/>
        </p:spPr>
        <p:txBody>
          <a:bodyPr wrap="square">
            <a:spAutoFit/>
          </a:bodyPr>
          <a:lstStyle/>
          <a:p>
            <a:pPr algn="r">
              <a:spcAft>
                <a:spcPts val="400"/>
              </a:spcAft>
            </a:pPr>
            <a:r>
              <a:rPr lang="en-US" sz="1100" b="0">
                <a:solidFill>
                  <a:srgbClr val="9C8976"/>
                </a:solidFill>
                <a:latin typeface="Georgia"/>
              </a:rPr>
              <a:t>09</a:t>
            </a:r>
          </a:p>
        </p:txBody>
      </p:sp>
      <p:sp>
        <p:nvSpPr>
          <p:cNvPr id="3" name="TextBox 2"/>
          <p:cNvSpPr txBox="1"/>
          <p:nvPr/>
        </p:nvSpPr>
        <p:spPr>
          <a:xfrm>
            <a:off x="731520" y="347472"/>
            <a:ext cx="8686800" cy="475488"/>
          </a:xfrm>
          <a:prstGeom prst="rect">
            <a:avLst/>
          </a:prstGeom>
          <a:noFill/>
        </p:spPr>
        <p:txBody>
          <a:bodyPr wrap="square">
            <a:spAutoFit/>
          </a:bodyPr>
          <a:lstStyle/>
          <a:p>
            <a:pPr algn="l">
              <a:spcAft>
                <a:spcPts val="400"/>
              </a:spcAft>
            </a:pPr>
            <a:r>
              <a:rPr lang="en-US" sz="2800" b="1">
                <a:solidFill>
                  <a:srgbClr val="2D231E"/>
                </a:solidFill>
                <a:latin typeface="Georgia"/>
              </a:rPr>
              <a:t>Conclusion &amp; Future Scope</a:t>
            </a:r>
          </a:p>
        </p:txBody>
      </p:sp>
      <p:sp>
        <p:nvSpPr>
          <p:cNvPr id="4" name="TextBox 3"/>
          <p:cNvSpPr txBox="1"/>
          <p:nvPr/>
        </p:nvSpPr>
        <p:spPr>
          <a:xfrm>
            <a:off x="731520" y="822960"/>
            <a:ext cx="8686800" cy="274320"/>
          </a:xfrm>
          <a:prstGeom prst="rect">
            <a:avLst/>
          </a:prstGeom>
          <a:noFill/>
        </p:spPr>
        <p:txBody>
          <a:bodyPr wrap="square">
            <a:spAutoFit/>
          </a:bodyPr>
          <a:lstStyle/>
          <a:p>
            <a:pPr algn="l">
              <a:spcAft>
                <a:spcPts val="400"/>
              </a:spcAft>
            </a:pPr>
            <a:r>
              <a:rPr lang="en-US" sz="1100" b="1">
                <a:solidFill>
                  <a:srgbClr val="6B5B4E"/>
                </a:solidFill>
                <a:latin typeface="Calibri"/>
              </a:rPr>
              <a:t>Summary of Achievements, Academic Takeaways &amp; Industrial Extensions</a:t>
            </a:r>
          </a:p>
        </p:txBody>
      </p:sp>
      <p:sp>
        <p:nvSpPr>
          <p:cNvPr id="5" name="Rectangle 4"/>
          <p:cNvSpPr/>
          <p:nvPr/>
        </p:nvSpPr>
        <p:spPr>
          <a:xfrm>
            <a:off x="731520" y="1115568"/>
            <a:ext cx="2926080" cy="19050"/>
          </a:xfrm>
          <a:prstGeom prst="rect">
            <a:avLst/>
          </a:prstGeom>
          <a:solidFill>
            <a:srgbClr val="9C89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80160"/>
            <a:ext cx="5120640" cy="301752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389888"/>
            <a:ext cx="4663440" cy="320040"/>
          </a:xfrm>
          <a:prstGeom prst="rect">
            <a:avLst/>
          </a:prstGeom>
          <a:noFill/>
        </p:spPr>
        <p:txBody>
          <a:bodyPr wrap="square">
            <a:spAutoFit/>
          </a:bodyPr>
          <a:lstStyle/>
          <a:p>
            <a:pPr algn="l">
              <a:spcAft>
                <a:spcPts val="400"/>
              </a:spcAft>
            </a:pPr>
            <a:r>
              <a:rPr lang="en-US" sz="1300" b="1">
                <a:solidFill>
                  <a:srgbClr val="8B6F56"/>
                </a:solidFill>
                <a:latin typeface="Georgia"/>
              </a:rPr>
              <a:t>Conclusions</a:t>
            </a:r>
          </a:p>
        </p:txBody>
      </p:sp>
      <p:sp>
        <p:nvSpPr>
          <p:cNvPr id="8" name="Rectangle 7"/>
          <p:cNvSpPr/>
          <p:nvPr/>
        </p:nvSpPr>
        <p:spPr>
          <a:xfrm>
            <a:off x="960120" y="1719072"/>
            <a:ext cx="466344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267712"/>
            <a:ext cx="4663440" cy="2395728"/>
          </a:xfrm>
          <a:prstGeom prst="rect">
            <a:avLst/>
          </a:prstGeom>
          <a:noFill/>
        </p:spPr>
        <p:txBody>
          <a:bodyPr wrap="square">
            <a:spAutoFit/>
          </a:bodyPr>
          <a:lstStyle/>
          <a:p>
            <a:pPr>
              <a:spcBef>
                <a:spcPts val="150"/>
              </a:spcBef>
              <a:spcAft>
                <a:spcPts val="400"/>
              </a:spcAft>
            </a:pPr>
            <a:r>
              <a:rPr lang="en-US" sz="1500" dirty="0">
                <a:solidFill>
                  <a:srgbClr val="2D231E"/>
                </a:solidFill>
                <a:latin typeface="Calibri"/>
              </a:rPr>
              <a:t>•  Workload alone failed: R² = 0.002, p = 0.57</a:t>
            </a:r>
          </a:p>
          <a:p>
            <a:pPr>
              <a:spcBef>
                <a:spcPts val="150"/>
              </a:spcBef>
              <a:spcAft>
                <a:spcPts val="400"/>
              </a:spcAft>
            </a:pPr>
            <a:r>
              <a:rPr lang="en-US" sz="1500" dirty="0">
                <a:solidFill>
                  <a:srgbClr val="2D231E"/>
                </a:solidFill>
                <a:latin typeface="Calibri"/>
              </a:rPr>
              <a:t>•  With predicted duration: R² = 0.944</a:t>
            </a:r>
          </a:p>
          <a:p>
            <a:pPr>
              <a:spcBef>
                <a:spcPts val="150"/>
              </a:spcBef>
              <a:spcAft>
                <a:spcPts val="400"/>
              </a:spcAft>
            </a:pPr>
            <a:r>
              <a:rPr lang="en-US" sz="1500" dirty="0">
                <a:solidFill>
                  <a:srgbClr val="2D231E"/>
                </a:solidFill>
                <a:latin typeface="Calibri"/>
              </a:rPr>
              <a:t>•  Duration is the only significant predictor</a:t>
            </a:r>
          </a:p>
          <a:p>
            <a:pPr>
              <a:spcBef>
                <a:spcPts val="150"/>
              </a:spcBef>
              <a:spcAft>
                <a:spcPts val="400"/>
              </a:spcAft>
            </a:pPr>
            <a:r>
              <a:rPr lang="en-US" sz="1500" dirty="0">
                <a:solidFill>
                  <a:srgbClr val="2D231E"/>
                </a:solidFill>
                <a:latin typeface="Calibri"/>
              </a:rPr>
              <a:t>•  Second dataset (732 sites): R² = 0.006</a:t>
            </a:r>
          </a:p>
        </p:txBody>
      </p:sp>
      <p:sp>
        <p:nvSpPr>
          <p:cNvPr id="10" name="Rectangle 9"/>
          <p:cNvSpPr/>
          <p:nvPr/>
        </p:nvSpPr>
        <p:spPr>
          <a:xfrm>
            <a:off x="6309360" y="1280160"/>
            <a:ext cx="5120640" cy="301752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7960" y="1389888"/>
            <a:ext cx="4663440" cy="320040"/>
          </a:xfrm>
          <a:prstGeom prst="rect">
            <a:avLst/>
          </a:prstGeom>
          <a:noFill/>
        </p:spPr>
        <p:txBody>
          <a:bodyPr wrap="square">
            <a:spAutoFit/>
          </a:bodyPr>
          <a:lstStyle/>
          <a:p>
            <a:pPr algn="l">
              <a:spcAft>
                <a:spcPts val="400"/>
              </a:spcAft>
            </a:pPr>
            <a:r>
              <a:rPr lang="en-US" sz="1300" b="1">
                <a:solidFill>
                  <a:srgbClr val="8B6F56"/>
                </a:solidFill>
                <a:latin typeface="Georgia"/>
              </a:rPr>
              <a:t>Future Scope &amp; Industrial Roadmap</a:t>
            </a:r>
          </a:p>
        </p:txBody>
      </p:sp>
      <p:sp>
        <p:nvSpPr>
          <p:cNvPr id="12" name="Rectangle 11"/>
          <p:cNvSpPr/>
          <p:nvPr/>
        </p:nvSpPr>
        <p:spPr>
          <a:xfrm>
            <a:off x="6537960" y="1719072"/>
            <a:ext cx="466344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2084832"/>
            <a:ext cx="4663440" cy="2395728"/>
          </a:xfrm>
          <a:prstGeom prst="rect">
            <a:avLst/>
          </a:prstGeom>
          <a:noFill/>
        </p:spPr>
        <p:txBody>
          <a:bodyPr wrap="square">
            <a:spAutoFit/>
          </a:bodyPr>
          <a:lstStyle/>
          <a:p>
            <a:pPr>
              <a:spcBef>
                <a:spcPts val="150"/>
              </a:spcBef>
              <a:spcAft>
                <a:spcPts val="400"/>
              </a:spcAft>
            </a:pPr>
            <a:r>
              <a:rPr lang="en-US" sz="1500" dirty="0">
                <a:solidFill>
                  <a:srgbClr val="2D231E"/>
                </a:solidFill>
                <a:latin typeface="Calibri"/>
              </a:rPr>
              <a:t>•  Real load tests with JMeter or Locust and </a:t>
            </a:r>
            <a:r>
              <a:rPr lang="en-US" sz="1500" dirty="0" err="1">
                <a:solidFill>
                  <a:srgbClr val="2D231E"/>
                </a:solidFill>
                <a:latin typeface="Calibri"/>
              </a:rPr>
              <a:t>psutil</a:t>
            </a:r>
            <a:endParaRPr lang="en-US" sz="1500" dirty="0">
              <a:solidFill>
                <a:srgbClr val="2D231E"/>
              </a:solidFill>
              <a:latin typeface="Calibri"/>
            </a:endParaRPr>
          </a:p>
          <a:p>
            <a:pPr>
              <a:spcBef>
                <a:spcPts val="150"/>
              </a:spcBef>
              <a:spcAft>
                <a:spcPts val="400"/>
              </a:spcAft>
            </a:pPr>
            <a:r>
              <a:rPr lang="en-US" sz="1500" dirty="0">
                <a:solidFill>
                  <a:srgbClr val="2D231E"/>
                </a:solidFill>
                <a:latin typeface="Calibri"/>
              </a:rPr>
              <a:t>•  SLA risk: P(response time &gt; SLA)</a:t>
            </a:r>
          </a:p>
          <a:p>
            <a:pPr>
              <a:spcBef>
                <a:spcPts val="150"/>
              </a:spcBef>
              <a:spcAft>
                <a:spcPts val="400"/>
              </a:spcAft>
            </a:pPr>
            <a:r>
              <a:rPr lang="en-US" sz="1500" dirty="0">
                <a:solidFill>
                  <a:srgbClr val="2D231E"/>
                </a:solidFill>
                <a:latin typeface="Calibri"/>
              </a:rPr>
              <a:t>•  More models: ridge, Gaussian process, ARIMA</a:t>
            </a:r>
          </a:p>
          <a:p>
            <a:pPr>
              <a:spcBef>
                <a:spcPts val="150"/>
              </a:spcBef>
              <a:spcAft>
                <a:spcPts val="400"/>
              </a:spcAft>
            </a:pPr>
            <a:r>
              <a:rPr lang="en-US" sz="1500" dirty="0">
                <a:solidFill>
                  <a:srgbClr val="2D231E"/>
                </a:solidFill>
                <a:latin typeface="Calibri"/>
              </a:rPr>
              <a:t>•  Anomaly alerts from prediction error (DDoS)</a:t>
            </a:r>
          </a:p>
          <a:p>
            <a:pPr>
              <a:spcBef>
                <a:spcPts val="150"/>
              </a:spcBef>
              <a:spcAft>
                <a:spcPts val="400"/>
              </a:spcAft>
            </a:pPr>
            <a:r>
              <a:rPr lang="en-US" sz="1500" dirty="0">
                <a:solidFill>
                  <a:srgbClr val="2D231E"/>
                </a:solidFill>
                <a:latin typeface="Calibri"/>
              </a:rPr>
              <a:t>•  Validate on more QoS datasets such as WS-DREAM</a:t>
            </a:r>
          </a:p>
        </p:txBody>
      </p:sp>
      <p:sp>
        <p:nvSpPr>
          <p:cNvPr id="14" name="Rectangle 13"/>
          <p:cNvSpPr/>
          <p:nvPr/>
        </p:nvSpPr>
        <p:spPr>
          <a:xfrm>
            <a:off x="731520" y="4480560"/>
            <a:ext cx="10698480" cy="1920240"/>
          </a:xfrm>
          <a:prstGeom prst="rect">
            <a:avLst/>
          </a:prstGeom>
          <a:solidFill>
            <a:srgbClr val="FFFFFF"/>
          </a:solidFill>
          <a:ln w="12700">
            <a:solidFill>
              <a:srgbClr val="C4B5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590288"/>
            <a:ext cx="10241280" cy="320040"/>
          </a:xfrm>
          <a:prstGeom prst="rect">
            <a:avLst/>
          </a:prstGeom>
          <a:noFill/>
        </p:spPr>
        <p:txBody>
          <a:bodyPr wrap="square">
            <a:spAutoFit/>
          </a:bodyPr>
          <a:lstStyle/>
          <a:p>
            <a:pPr algn="l">
              <a:spcAft>
                <a:spcPts val="400"/>
              </a:spcAft>
            </a:pPr>
            <a:r>
              <a:rPr lang="en-US" sz="1400" b="1">
                <a:solidFill>
                  <a:srgbClr val="8B6F56"/>
                </a:solidFill>
                <a:latin typeface="Georgia"/>
              </a:rPr>
              <a:t>Core Takeaway</a:t>
            </a:r>
          </a:p>
        </p:txBody>
      </p:sp>
      <p:sp>
        <p:nvSpPr>
          <p:cNvPr id="16" name="Rectangle 15"/>
          <p:cNvSpPr/>
          <p:nvPr/>
        </p:nvSpPr>
        <p:spPr>
          <a:xfrm>
            <a:off x="960120" y="4919472"/>
            <a:ext cx="10241280" cy="19050"/>
          </a:xfrm>
          <a:prstGeom prst="rect">
            <a:avLst/>
          </a:prstGeom>
          <a:solidFill>
            <a:srgbClr val="C4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5121402"/>
            <a:ext cx="10241280" cy="1298448"/>
          </a:xfrm>
          <a:prstGeom prst="rect">
            <a:avLst/>
          </a:prstGeom>
          <a:noFill/>
        </p:spPr>
        <p:txBody>
          <a:bodyPr wrap="square">
            <a:spAutoFit/>
          </a:bodyPr>
          <a:lstStyle/>
          <a:p>
            <a:pPr>
              <a:spcBef>
                <a:spcPts val="150"/>
              </a:spcBef>
              <a:spcAft>
                <a:spcPts val="400"/>
              </a:spcAft>
            </a:pPr>
            <a:r>
              <a:rPr lang="en-US" sz="1500" dirty="0">
                <a:solidFill>
                  <a:srgbClr val="2D231E"/>
                </a:solidFill>
                <a:latin typeface="Calibri"/>
              </a:rPr>
              <a:t>•  Regression plus hypothesis testing shows whether inputs truly matter, not just how accurate a model is.</a:t>
            </a:r>
          </a:p>
          <a:p>
            <a:pPr>
              <a:spcBef>
                <a:spcPts val="150"/>
              </a:spcBef>
              <a:spcAft>
                <a:spcPts val="400"/>
              </a:spcAft>
            </a:pPr>
            <a:r>
              <a:rPr lang="en-US" sz="1500" dirty="0">
                <a:solidFill>
                  <a:srgbClr val="2D231E"/>
                </a:solidFill>
                <a:latin typeface="Calibri"/>
              </a:rPr>
              <a:t>•  Here workload carried no signal; predicted duration carried almost all of it.</a:t>
            </a:r>
          </a:p>
          <a:p>
            <a:pPr>
              <a:spcBef>
                <a:spcPts val="150"/>
              </a:spcBef>
              <a:spcAft>
                <a:spcPts val="400"/>
              </a:spcAft>
            </a:pPr>
            <a:r>
              <a:rPr lang="en-US" sz="1500" dirty="0">
                <a:solidFill>
                  <a:srgbClr val="2D231E"/>
                </a:solidFill>
                <a:latin typeface="Calibri"/>
              </a:rPr>
              <a:t>•  Validate statistically before trusting any prediction model.</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D231E"/>
        </a:solidFill>
        <a:effectLst/>
      </p:bgPr>
    </p:bg>
    <p:spTree>
      <p:nvGrpSpPr>
        <p:cNvPr id="1" name=""/>
        <p:cNvGrpSpPr/>
        <p:nvPr/>
      </p:nvGrpSpPr>
      <p:grpSpPr>
        <a:xfrm>
          <a:off x="0" y="0"/>
          <a:ext cx="0" cy="0"/>
          <a:chOff x="0" y="0"/>
          <a:chExt cx="0" cy="0"/>
        </a:xfrm>
      </p:grpSpPr>
      <p:sp>
        <p:nvSpPr>
          <p:cNvPr id="2" name="Rectangle 1"/>
          <p:cNvSpPr/>
          <p:nvPr/>
        </p:nvSpPr>
        <p:spPr>
          <a:xfrm>
            <a:off x="12054535" y="0"/>
            <a:ext cx="137160"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0" y="1828800"/>
            <a:ext cx="5790895" cy="25400"/>
          </a:xfrm>
          <a:prstGeom prst="rect">
            <a:avLst/>
          </a:prstGeom>
          <a:solidFill>
            <a:srgbClr val="9C89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2103120"/>
            <a:ext cx="8534095" cy="1280160"/>
          </a:xfrm>
          <a:prstGeom prst="rect">
            <a:avLst/>
          </a:prstGeom>
          <a:noFill/>
        </p:spPr>
        <p:txBody>
          <a:bodyPr wrap="square">
            <a:spAutoFit/>
          </a:bodyPr>
          <a:lstStyle/>
          <a:p>
            <a:pPr algn="ctr">
              <a:spcAft>
                <a:spcPts val="400"/>
              </a:spcAft>
            </a:pPr>
            <a:r>
              <a:rPr lang="en-US" sz="5200" b="1">
                <a:solidFill>
                  <a:srgbClr val="FAF7F2"/>
                </a:solidFill>
                <a:latin typeface="Georgia"/>
              </a:rPr>
              <a:t>Thank You</a:t>
            </a:r>
          </a:p>
        </p:txBody>
      </p:sp>
      <p:sp>
        <p:nvSpPr>
          <p:cNvPr id="5" name="TextBox 4"/>
          <p:cNvSpPr txBox="1"/>
          <p:nvPr/>
        </p:nvSpPr>
        <p:spPr>
          <a:xfrm>
            <a:off x="1828800" y="3474720"/>
            <a:ext cx="8534095" cy="969496"/>
          </a:xfrm>
          <a:prstGeom prst="rect">
            <a:avLst/>
          </a:prstGeom>
          <a:noFill/>
        </p:spPr>
        <p:txBody>
          <a:bodyPr wrap="square">
            <a:spAutoFit/>
          </a:bodyPr>
          <a:lstStyle/>
          <a:p>
            <a:pPr algn="ctr">
              <a:spcAft>
                <a:spcPts val="400"/>
              </a:spcAft>
            </a:pPr>
            <a:r>
              <a:rPr lang="en-US" sz="1900" b="0" dirty="0">
                <a:solidFill>
                  <a:srgbClr val="C4B5A2"/>
                </a:solidFill>
                <a:latin typeface="Calibri"/>
              </a:rPr>
              <a:t>Server Response Time Prediction Using Regression Models</a:t>
            </a:r>
            <a:br>
              <a:rPr dirty="0"/>
            </a:br>
            <a:r>
              <a:rPr lang="en-US" sz="1900" b="0" dirty="0">
                <a:solidFill>
                  <a:srgbClr val="C4B5A2"/>
                </a:solidFill>
                <a:latin typeface="Calibri"/>
              </a:rPr>
              <a:t>Micro Project 13</a:t>
            </a:r>
            <a:br>
              <a:rPr dirty="0"/>
            </a:br>
            <a:r>
              <a:rPr lang="en-US" sz="1900" b="0" dirty="0">
                <a:solidFill>
                  <a:srgbClr val="C4B5A2"/>
                </a:solidFill>
                <a:latin typeface="Calibri"/>
              </a:rPr>
              <a:t>Dharani Dharan M </a:t>
            </a:r>
            <a:r>
              <a:rPr lang="en-US" sz="1900" dirty="0">
                <a:solidFill>
                  <a:srgbClr val="C4B5A2"/>
                </a:solidFill>
              </a:rPr>
              <a:t>|  Lithish Kumar P</a:t>
            </a:r>
            <a:r>
              <a:rPr lang="en-US" sz="1900" b="0" dirty="0">
                <a:solidFill>
                  <a:srgbClr val="C4B5A2"/>
                </a:solidFill>
                <a:latin typeface="Calibri"/>
              </a:rPr>
              <a:t> |  Danush A T  |  Rowan Matthew R</a:t>
            </a:r>
          </a:p>
        </p:txBody>
      </p:sp>
      <p:sp>
        <p:nvSpPr>
          <p:cNvPr id="6" name="Rectangle 5"/>
          <p:cNvSpPr/>
          <p:nvPr/>
        </p:nvSpPr>
        <p:spPr>
          <a:xfrm>
            <a:off x="3200400" y="4846320"/>
            <a:ext cx="5790895" cy="25400"/>
          </a:xfrm>
          <a:prstGeom prst="rect">
            <a:avLst/>
          </a:prstGeom>
          <a:solidFill>
            <a:srgbClr val="9C89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690</TotalTime>
  <Words>1952</Words>
  <Application>Microsoft Office PowerPoint</Application>
  <PresentationFormat>Widescreen</PresentationFormat>
  <Paragraphs>186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dharanidaran m</cp:lastModifiedBy>
  <cp:revision>4</cp:revision>
  <dcterms:created xsi:type="dcterms:W3CDTF">2013-01-27T09:14:16Z</dcterms:created>
  <dcterms:modified xsi:type="dcterms:W3CDTF">2026-10-27T14:41:54Z</dcterms:modified>
  <cp:category/>
</cp:coreProperties>
</file>